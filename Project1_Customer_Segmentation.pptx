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were given 200 mall customer records with no labels, and asked to find natural groups in them using clustering. Clustering is unsupervised learning — there is no right answer given to us, so we have to discover the structure ourselves and then prove it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framing point: this is unsupervised learning. Nobody tells us the correct groups, so we cannot measure accuracy the way we would with a classifier. That is why later we have to use silhouette score and cross-check with a second algorithm — those replace the accuracy metric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customers, five columns, and importantly zero missing values and zero duplicates — so no imputation was needed. I still wrote the missing-value check into the code, because you cannot know the data is clean until you look. Mention that CustomerID was dropped: it is just a row number, and including it would have let the algorithm cluster on the arbitrary order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Emphasise the note at the bottom — choosing k first, using objective methods, and only then clustering, is what stops this from being a result we picked because it looked nice.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why EDA comes first. We could have jumped straight to K-Means, but then we would have had no way to tell whether the output was sensible. Seeing five blobs by eye gives us an expectation to test against. It also tells us the clusters are roughly circular, which is exactly the shape K-Means is good at — so K-Means is a reasonable choice for this data rather than a default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Standardization is the most important idea on this slide and the most likely thing to be asked about. Clustering is built on distance. A $50k gap in income and a 50-point gap in spending score are very different things, but to a distance formula they are both just 'fifty'. Scaling removes that unfairness. Without it, the clusters would have been decided almost entirely by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slide to spend time on, because it shows a decision was tested rather than assumed. If asked 'why didn't you use all the columns?', the answer is that we did try, measured it, and it made the result worse. A negative result is still a result. Also worth saying: because each cluster kept the same gender ratio as the whole dataset, gender simply is not what separates these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elbow honestly: it is a judgement call, not a formula. The curve always goes down, so the only thing we can look for is where it stops going down steeply. That subjectivity is exactly why we did not stop here and used two more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contrast with the previous slide: WCSS can only ever go down, so it needs human interpretation. Silhouette can go up AND down, so its maximum is a genuine answer. Here it peaks at k=5 and then falls, which is much stronger evidence than the elbow alone. If someone asks what a good silhouette score is — above 0.5 is generally considered a reasonable, well-separated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dendrogram is the third and most visual method. The takeaway for the whole of Step 2 is the dark bar: four independent signals all point at five clusters. Any one of them alone could be argued with; all four agreeing is hard to dismiss. This is the moment we can commit to k=5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slowly — this is the algorithm the professor most likely wants to hear explained. The randomness point is important: because the starting centroids are random, K-Means can land on different answers. n_init=10 means sklearn runs it ten times and keeps the best, and random_state=42 means we get the same result every run, which is what makes the project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for picking hierarchical as the second algorithm is that it is genuinely different — bottom-up merging, no centroids, no randomness. If we had picked a near-identical algorithm, agreement between them would prove nothing. Also note 'Ward linkage' means we merge whichever pair increases the total spread the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two plots look almost the same. One technical detail worth mentioning if asked: we compared cluster SIZES, not cluster numbers. The numbers are arbitrary labels — what K-Means calls cluster 0, hierarchical might call cluster 3 — so comparing the numbers directly would be meaningless. About eight customers on the boundaries were placed differently, which is exactly what you would expect for points sitting between two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Note how the five clusters map onto a simple grid: high/low income crossed with high/low spending, plus a large average group in the middle. The segment names were generated in code by comparing each cluster's averages to the dataset median, not typed in by hand — so if the data changed, the names would update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'so what?'. Clustering is only useful if it changes a decision. Highlight the Untapped High Earners — they have the highest average income in the entire dataset at $88k but a spending score of only 17. If the mall can work out why, that is the biggest revenue opportunity available. Also note the VIP group: 20% of customers who should get the majority of the retention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genuinely balanced here. The two silhouette scores are 0.5547 and 0.5538 — that gap is tiny and not a real quality difference. We chose K-Means for a practical reason: centroids give us a concrete 'average customer' for each segment, which is what makes the business slide possible. Hierarchical would have been the better choice if we had not known k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reflection slide. Point five is worth telling as a story: I originally compared the two algorithms by checking how many customers got the same cluster number, and got 31% agreement, which looked terrible. The partitions were actually about 94% identical — the cluster numbers are just arbitrary labels. Catching that taught me to think about what a metric is actually measuring rather than trusting a number because it ran without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business point rather than the technical one. The phrase to land: the mall was marketing to an average customer who does not actually exist — 40% of customers are near the average, but the other 60% are at the extremes and need completely different treatment.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93C"/>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028090"/>
          </a:solidFill>
          <a:ln/>
        </p:spPr>
      </p:sp>
      <p:sp>
        <p:nvSpPr>
          <p:cNvPr id="3" name="Shape 1"/>
          <p:cNvSpPr/>
          <p:nvPr/>
        </p:nvSpPr>
        <p:spPr>
          <a:xfrm>
            <a:off x="10881360" y="4206240"/>
            <a:ext cx="2926080" cy="2926080"/>
          </a:xfrm>
          <a:prstGeom prst="ellipse">
            <a:avLst/>
          </a:prstGeom>
          <a:solidFill>
            <a:srgbClr val="02C39A"/>
          </a:solidFill>
          <a:ln/>
        </p:spPr>
      </p:sp>
      <p:sp>
        <p:nvSpPr>
          <p:cNvPr id="4" name="Text 2"/>
          <p:cNvSpPr txBox="1"/>
          <p:nvPr/>
        </p:nvSpPr>
        <p:spPr>
          <a:xfrm>
            <a:off x="822960" y="1600200"/>
            <a:ext cx="8229600" cy="320040"/>
          </a:xfrm>
          <a:prstGeom prst="rect">
            <a:avLst/>
          </a:prstGeom>
          <a:noFill/>
          <a:ln/>
        </p:spPr>
        <p:txBody>
          <a:bodyPr wrap="square" lIns="0" tIns="0" rIns="0" bIns="0" rtlCol="0" anchor="ctr"/>
          <a:lstStyle/>
          <a:p>
            <a:pPr indent="0" marL="0">
              <a:buNone/>
            </a:pPr>
            <a:r>
              <a:rPr lang="en-US" sz="1400" b="1" spc="250" kern="0" dirty="0">
                <a:solidFill>
                  <a:srgbClr val="02C39A"/>
                </a:solidFill>
                <a:latin typeface="Calibri" pitchFamily="34" charset="0"/>
                <a:ea typeface="Calibri" pitchFamily="34" charset="-122"/>
                <a:cs typeface="Calibri" pitchFamily="34" charset="-120"/>
              </a:rPr>
              <a:t>CSCI 6840  ·  PROJECT 1</a:t>
            </a:r>
            <a:endParaRPr lang="en-US" sz="1400" dirty="0"/>
          </a:p>
        </p:txBody>
      </p:sp>
      <p:sp>
        <p:nvSpPr>
          <p:cNvPr id="5" name="Text 3"/>
          <p:cNvSpPr txBox="1"/>
          <p:nvPr/>
        </p:nvSpPr>
        <p:spPr>
          <a:xfrm>
            <a:off x="822960" y="2103120"/>
            <a:ext cx="8778240" cy="18288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Customer Segmentation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Using Clustering Techniques</a:t>
            </a:r>
            <a:endParaRPr lang="en-US" sz="4000" dirty="0"/>
          </a:p>
        </p:txBody>
      </p:sp>
      <p:sp>
        <p:nvSpPr>
          <p:cNvPr id="6" name="Text 4"/>
          <p:cNvSpPr txBox="1"/>
          <p:nvPr/>
        </p:nvSpPr>
        <p:spPr>
          <a:xfrm>
            <a:off x="822960" y="4114800"/>
            <a:ext cx="8046720" cy="731520"/>
          </a:xfrm>
          <a:prstGeom prst="rect">
            <a:avLst/>
          </a:prstGeom>
          <a:noFill/>
          <a:ln/>
        </p:spPr>
        <p:txBody>
          <a:bodyPr wrap="square" lIns="0" tIns="0" rIns="0" bIns="0" rtlCol="0" anchor="ctr"/>
          <a:lstStyle/>
          <a:p>
            <a:pPr indent="0" marL="0">
              <a:lnSpc>
                <a:spcPts val="2200"/>
              </a:lnSpc>
              <a:buNone/>
            </a:pPr>
            <a:r>
              <a:rPr lang="en-US" sz="1500" dirty="0">
                <a:solidFill>
                  <a:srgbClr val="BFD8D8"/>
                </a:solidFill>
                <a:latin typeface="Calibri" pitchFamily="34" charset="0"/>
                <a:ea typeface="Calibri" pitchFamily="34" charset="-122"/>
                <a:cs typeface="Calibri" pitchFamily="34" charset="-120"/>
              </a:rPr>
              <a:t>Finding hidden customer groups in the Mall Customers dataset — and turning them into marketing strategy</a:t>
            </a:r>
            <a:endParaRPr lang="en-US" sz="1500" dirty="0"/>
          </a:p>
        </p:txBody>
      </p:sp>
      <p:sp>
        <p:nvSpPr>
          <p:cNvPr id="7" name="Shape 5"/>
          <p:cNvSpPr/>
          <p:nvPr/>
        </p:nvSpPr>
        <p:spPr>
          <a:xfrm>
            <a:off x="822960" y="5074920"/>
            <a:ext cx="822960" cy="27432"/>
          </a:xfrm>
          <a:prstGeom prst="rect">
            <a:avLst/>
          </a:prstGeom>
          <a:solidFill>
            <a:srgbClr val="02C39A"/>
          </a:solidFill>
          <a:ln/>
        </p:spPr>
      </p:sp>
      <p:sp>
        <p:nvSpPr>
          <p:cNvPr id="8" name="Text 6"/>
          <p:cNvSpPr txBox="1"/>
          <p:nvPr/>
        </p:nvSpPr>
        <p:spPr>
          <a:xfrm>
            <a:off x="822960" y="5303520"/>
            <a:ext cx="8229600" cy="320040"/>
          </a:xfrm>
          <a:prstGeom prst="rect">
            <a:avLst/>
          </a:prstGeom>
          <a:noFill/>
          <a:ln/>
        </p:spPr>
        <p:txBody>
          <a:bodyPr wrap="square" lIns="0" tIns="0" rIns="0" bIns="0" rtlCol="0" anchor="ctr"/>
          <a:lstStyle/>
          <a:p>
            <a:pPr indent="0" marL="0">
              <a:buNone/>
            </a:pPr>
            <a:r>
              <a:rPr lang="en-US" sz="1200" dirty="0">
                <a:solidFill>
                  <a:srgbClr val="00A896"/>
                </a:solidFill>
                <a:latin typeface="Calibri" pitchFamily="34" charset="0"/>
                <a:ea typeface="Calibri" pitchFamily="34" charset="-122"/>
                <a:cs typeface="Calibri" pitchFamily="34" charset="-120"/>
              </a:rPr>
              <a:t>Unsupervised Learning  ·  K-Means  ·  Hierarchical Clustering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Why Customer Segmentation?</a:t>
            </a:r>
            <a:endParaRPr lang="en-US" sz="3200" dirty="0"/>
          </a:p>
        </p:txBody>
      </p:sp>
      <p:sp>
        <p:nvSpPr>
          <p:cNvPr id="4" name="Shape 2"/>
          <p:cNvSpPr/>
          <p:nvPr/>
        </p:nvSpPr>
        <p:spPr>
          <a:xfrm>
            <a:off x="548640" y="1600200"/>
            <a:ext cx="5120640" cy="3840480"/>
          </a:xfrm>
          <a:prstGeom prst="roundRect">
            <a:avLst>
              <a:gd name="adj" fmla="val 1905"/>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Text 3"/>
          <p:cNvSpPr txBox="1"/>
          <p:nvPr/>
        </p:nvSpPr>
        <p:spPr>
          <a:xfrm>
            <a:off x="914400" y="1874520"/>
            <a:ext cx="438912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The business problem</a:t>
            </a:r>
            <a:endParaRPr lang="en-US" sz="1600" dirty="0"/>
          </a:p>
        </p:txBody>
      </p:sp>
      <p:sp>
        <p:nvSpPr>
          <p:cNvPr id="6" name="Text 4"/>
          <p:cNvSpPr txBox="1"/>
          <p:nvPr/>
        </p:nvSpPr>
        <p:spPr>
          <a:xfrm>
            <a:off x="914400" y="2286000"/>
            <a:ext cx="4434840" cy="292608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6262E"/>
                </a:solidFill>
                <a:latin typeface="Calibri" pitchFamily="34" charset="0"/>
                <a:ea typeface="Calibri" pitchFamily="34" charset="-122"/>
                <a:cs typeface="Calibri" pitchFamily="34" charset="-120"/>
              </a:rPr>
              <a:t>A mall has 200 customers and one marketing budget.</a:t>
            </a:r>
            <a:endParaRPr lang="en-US" sz="1400" dirty="0"/>
          </a:p>
          <a:p>
            <a:pPr marL="342900" indent="-342900">
              <a:lnSpc>
                <a:spcPts val="2000"/>
              </a:lnSpc>
              <a:spcAft>
                <a:spcPts val="800"/>
              </a:spcAft>
              <a:buSzPct val="100000"/>
              <a:buChar char="•"/>
            </a:pPr>
            <a:r>
              <a:rPr lang="en-US" sz="1400" dirty="0">
                <a:solidFill>
                  <a:srgbClr val="16262E"/>
                </a:solidFill>
                <a:latin typeface="Calibri" pitchFamily="34" charset="0"/>
                <a:ea typeface="Calibri" pitchFamily="34" charset="-122"/>
                <a:cs typeface="Calibri" pitchFamily="34" charset="-120"/>
              </a:rPr>
              <a:t>Treating everyone the same wastes money — a discount coupon is useless to someone who already spends freely.</a:t>
            </a:r>
            <a:endParaRPr lang="en-US" sz="1400" dirty="0"/>
          </a:p>
          <a:p>
            <a:pPr marL="342900" indent="-342900">
              <a:lnSpc>
                <a:spcPts val="2000"/>
              </a:lnSpc>
              <a:spcAft>
                <a:spcPts val="800"/>
              </a:spcAft>
              <a:buSzPct val="100000"/>
              <a:buChar char="•"/>
            </a:pPr>
            <a:r>
              <a:rPr lang="en-US" sz="1400" dirty="0">
                <a:solidFill>
                  <a:srgbClr val="16262E"/>
                </a:solidFill>
                <a:latin typeface="Calibri" pitchFamily="34" charset="0"/>
                <a:ea typeface="Calibri" pitchFamily="34" charset="-122"/>
                <a:cs typeface="Calibri" pitchFamily="34" charset="-120"/>
              </a:rPr>
              <a:t>But nobody has labelled which customers belong together.</a:t>
            </a:r>
            <a:endParaRPr lang="en-US" sz="1400" dirty="0"/>
          </a:p>
          <a:p>
            <a:pPr marL="342900" indent="-342900">
              <a:lnSpc>
                <a:spcPts val="2000"/>
              </a:lnSpc>
              <a:spcAft>
                <a:spcPts val="800"/>
              </a:spcAft>
              <a:buSzPct val="100000"/>
              <a:buChar char="•"/>
            </a:pPr>
            <a:r>
              <a:rPr lang="en-US" sz="1400" dirty="0">
                <a:solidFill>
                  <a:srgbClr val="16262E"/>
                </a:solidFill>
                <a:latin typeface="Calibri" pitchFamily="34" charset="0"/>
                <a:ea typeface="Calibri" pitchFamily="34" charset="-122"/>
                <a:cs typeface="Calibri" pitchFamily="34" charset="-120"/>
              </a:rPr>
              <a:t>We need to discover the groups from the data itself.</a:t>
            </a:r>
            <a:endParaRPr lang="en-US" sz="1400" dirty="0"/>
          </a:p>
        </p:txBody>
      </p:sp>
      <p:sp>
        <p:nvSpPr>
          <p:cNvPr id="7" name="Shape 5"/>
          <p:cNvSpPr/>
          <p:nvPr/>
        </p:nvSpPr>
        <p:spPr>
          <a:xfrm>
            <a:off x="6035040" y="1600200"/>
            <a:ext cx="5577840" cy="3840480"/>
          </a:xfrm>
          <a:prstGeom prst="roundRect">
            <a:avLst>
              <a:gd name="adj" fmla="val 1905"/>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8" name="Text 6"/>
          <p:cNvSpPr txBox="1"/>
          <p:nvPr/>
        </p:nvSpPr>
        <p:spPr>
          <a:xfrm>
            <a:off x="6400800" y="1874520"/>
            <a:ext cx="484632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What clustering does</a:t>
            </a:r>
            <a:endParaRPr lang="en-US" sz="1600" dirty="0"/>
          </a:p>
        </p:txBody>
      </p:sp>
      <p:sp>
        <p:nvSpPr>
          <p:cNvPr id="9" name="Text 7"/>
          <p:cNvSpPr txBox="1"/>
          <p:nvPr/>
        </p:nvSpPr>
        <p:spPr>
          <a:xfrm>
            <a:off x="6400800" y="2286000"/>
            <a:ext cx="4846320" cy="685800"/>
          </a:xfrm>
          <a:prstGeom prst="rect">
            <a:avLst/>
          </a:prstGeom>
          <a:noFill/>
          <a:ln/>
        </p:spPr>
        <p:txBody>
          <a:bodyPr wrap="square" lIns="0" tIns="0" rIns="0" bIns="0" rtlCol="0" anchor="ctr"/>
          <a:lstStyle/>
          <a:p>
            <a:pPr indent="0" marL="0">
              <a:lnSpc>
                <a:spcPts val="2000"/>
              </a:lnSpc>
              <a:buNone/>
            </a:pPr>
            <a:r>
              <a:rPr lang="en-US" sz="1400" dirty="0">
                <a:solidFill>
                  <a:srgbClr val="16262E"/>
                </a:solidFill>
                <a:latin typeface="Calibri" pitchFamily="34" charset="0"/>
                <a:ea typeface="Calibri" pitchFamily="34" charset="-122"/>
                <a:cs typeface="Calibri" pitchFamily="34" charset="-120"/>
              </a:rPr>
              <a:t>Clustering groups customers who are close to each other in the data, and separates those who are far apart.</a:t>
            </a:r>
            <a:endParaRPr lang="en-US" sz="1400" dirty="0"/>
          </a:p>
        </p:txBody>
      </p:sp>
      <p:sp>
        <p:nvSpPr>
          <p:cNvPr id="10" name="Text 8"/>
          <p:cNvSpPr txBox="1"/>
          <p:nvPr/>
        </p:nvSpPr>
        <p:spPr>
          <a:xfrm>
            <a:off x="6400800" y="3108960"/>
            <a:ext cx="4846320" cy="274320"/>
          </a:xfrm>
          <a:prstGeom prst="rect">
            <a:avLst/>
          </a:prstGeom>
          <a:noFill/>
          <a:ln/>
        </p:spPr>
        <p:txBody>
          <a:bodyPr wrap="square" lIns="0" tIns="0" rIns="0" bIns="0" rtlCol="0" anchor="ctr"/>
          <a:lstStyle/>
          <a:p>
            <a:pPr indent="0" marL="0">
              <a:buNone/>
            </a:pPr>
            <a:r>
              <a:rPr lang="en-US" sz="1300" b="1" dirty="0">
                <a:solidFill>
                  <a:srgbClr val="5C7A7D"/>
                </a:solidFill>
                <a:latin typeface="Calibri" pitchFamily="34" charset="0"/>
                <a:ea typeface="Calibri" pitchFamily="34" charset="-122"/>
                <a:cs typeface="Calibri" pitchFamily="34" charset="-120"/>
              </a:rPr>
              <a:t>Supervised learning</a:t>
            </a:r>
            <a:endParaRPr lang="en-US" sz="1300" dirty="0"/>
          </a:p>
        </p:txBody>
      </p:sp>
      <p:sp>
        <p:nvSpPr>
          <p:cNvPr id="11" name="Text 9"/>
          <p:cNvSpPr txBox="1"/>
          <p:nvPr/>
        </p:nvSpPr>
        <p:spPr>
          <a:xfrm>
            <a:off x="6400800" y="3383280"/>
            <a:ext cx="4846320" cy="36576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You are given the answer (labels) and learn to predict it.</a:t>
            </a:r>
            <a:endParaRPr lang="en-US" sz="1300" dirty="0"/>
          </a:p>
        </p:txBody>
      </p:sp>
      <p:sp>
        <p:nvSpPr>
          <p:cNvPr id="12" name="Text 10"/>
          <p:cNvSpPr txBox="1"/>
          <p:nvPr/>
        </p:nvSpPr>
        <p:spPr>
          <a:xfrm>
            <a:off x="6400800" y="3931920"/>
            <a:ext cx="484632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Unsupervised learning  ←  this project</a:t>
            </a:r>
            <a:endParaRPr lang="en-US" sz="1300" dirty="0"/>
          </a:p>
        </p:txBody>
      </p:sp>
      <p:sp>
        <p:nvSpPr>
          <p:cNvPr id="13" name="Text 11"/>
          <p:cNvSpPr txBox="1"/>
          <p:nvPr/>
        </p:nvSpPr>
        <p:spPr>
          <a:xfrm>
            <a:off x="6400800" y="4206240"/>
            <a:ext cx="4846320" cy="64008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No answer is given. You explore the data to find structure that was already there.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WHAT WE WORKED WITH</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The Dataset</a:t>
            </a:r>
            <a:endParaRPr lang="en-US" sz="3200" dirty="0"/>
          </a:p>
        </p:txBody>
      </p:sp>
      <p:sp>
        <p:nvSpPr>
          <p:cNvPr id="4" name="Shape 2"/>
          <p:cNvSpPr/>
          <p:nvPr/>
        </p:nvSpPr>
        <p:spPr>
          <a:xfrm>
            <a:off x="548640" y="1645920"/>
            <a:ext cx="2606040" cy="1325880"/>
          </a:xfrm>
          <a:prstGeom prst="roundRect">
            <a:avLst>
              <a:gd name="adj" fmla="val 551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Text 3"/>
          <p:cNvSpPr txBox="1"/>
          <p:nvPr/>
        </p:nvSpPr>
        <p:spPr>
          <a:xfrm>
            <a:off x="548640" y="1783080"/>
            <a:ext cx="2606040" cy="64008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200</a:t>
            </a:r>
            <a:endParaRPr lang="en-US" sz="4000" dirty="0"/>
          </a:p>
        </p:txBody>
      </p:sp>
      <p:sp>
        <p:nvSpPr>
          <p:cNvPr id="6" name="Text 4"/>
          <p:cNvSpPr txBox="1"/>
          <p:nvPr/>
        </p:nvSpPr>
        <p:spPr>
          <a:xfrm>
            <a:off x="548640" y="2450592"/>
            <a:ext cx="2606040" cy="274320"/>
          </a:xfrm>
          <a:prstGeom prst="rect">
            <a:avLst/>
          </a:prstGeom>
          <a:noFill/>
          <a:ln/>
        </p:spPr>
        <p:txBody>
          <a:bodyPr wrap="square" lIns="0" tIns="0" rIns="0" bIns="0" rtlCol="0" anchor="ctr"/>
          <a:lstStyle/>
          <a:p>
            <a:pPr algn="ctr" indent="0" marL="0">
              <a:buNone/>
            </a:pPr>
            <a:r>
              <a:rPr lang="en-US" sz="1200" dirty="0">
                <a:solidFill>
                  <a:srgbClr val="5C7A7D"/>
                </a:solidFill>
                <a:latin typeface="Calibri" pitchFamily="34" charset="0"/>
                <a:ea typeface="Calibri" pitchFamily="34" charset="-122"/>
                <a:cs typeface="Calibri" pitchFamily="34" charset="-120"/>
              </a:rPr>
              <a:t>customers</a:t>
            </a:r>
            <a:endParaRPr lang="en-US" sz="1200" dirty="0"/>
          </a:p>
        </p:txBody>
      </p:sp>
      <p:sp>
        <p:nvSpPr>
          <p:cNvPr id="7" name="Shape 5"/>
          <p:cNvSpPr/>
          <p:nvPr/>
        </p:nvSpPr>
        <p:spPr>
          <a:xfrm>
            <a:off x="3410712" y="1645920"/>
            <a:ext cx="2606040" cy="1325880"/>
          </a:xfrm>
          <a:prstGeom prst="roundRect">
            <a:avLst>
              <a:gd name="adj" fmla="val 551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8" name="Text 6"/>
          <p:cNvSpPr txBox="1"/>
          <p:nvPr/>
        </p:nvSpPr>
        <p:spPr>
          <a:xfrm>
            <a:off x="3410712" y="1783080"/>
            <a:ext cx="2606040" cy="64008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5</a:t>
            </a:r>
            <a:endParaRPr lang="en-US" sz="4000" dirty="0"/>
          </a:p>
        </p:txBody>
      </p:sp>
      <p:sp>
        <p:nvSpPr>
          <p:cNvPr id="9" name="Text 7"/>
          <p:cNvSpPr txBox="1"/>
          <p:nvPr/>
        </p:nvSpPr>
        <p:spPr>
          <a:xfrm>
            <a:off x="3410712" y="2450592"/>
            <a:ext cx="2606040" cy="274320"/>
          </a:xfrm>
          <a:prstGeom prst="rect">
            <a:avLst/>
          </a:prstGeom>
          <a:noFill/>
          <a:ln/>
        </p:spPr>
        <p:txBody>
          <a:bodyPr wrap="square" lIns="0" tIns="0" rIns="0" bIns="0" rtlCol="0" anchor="ctr"/>
          <a:lstStyle/>
          <a:p>
            <a:pPr algn="ctr" indent="0" marL="0">
              <a:buNone/>
            </a:pPr>
            <a:r>
              <a:rPr lang="en-US" sz="1200" dirty="0">
                <a:solidFill>
                  <a:srgbClr val="5C7A7D"/>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6272784" y="1645920"/>
            <a:ext cx="2606040" cy="1325880"/>
          </a:xfrm>
          <a:prstGeom prst="roundRect">
            <a:avLst>
              <a:gd name="adj" fmla="val 551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1" name="Text 9"/>
          <p:cNvSpPr txBox="1"/>
          <p:nvPr/>
        </p:nvSpPr>
        <p:spPr>
          <a:xfrm>
            <a:off x="6272784" y="1783080"/>
            <a:ext cx="2606040" cy="64008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6272784" y="2450592"/>
            <a:ext cx="2606040" cy="274320"/>
          </a:xfrm>
          <a:prstGeom prst="rect">
            <a:avLst/>
          </a:prstGeom>
          <a:noFill/>
          <a:ln/>
        </p:spPr>
        <p:txBody>
          <a:bodyPr wrap="square" lIns="0" tIns="0" rIns="0" bIns="0" rtlCol="0" anchor="ctr"/>
          <a:lstStyle/>
          <a:p>
            <a:pPr algn="ctr" indent="0" marL="0">
              <a:buNone/>
            </a:pPr>
            <a:r>
              <a:rPr lang="en-US" sz="1200" dirty="0">
                <a:solidFill>
                  <a:srgbClr val="5C7A7D"/>
                </a:solidFill>
                <a:latin typeface="Calibri" pitchFamily="34" charset="0"/>
                <a:ea typeface="Calibri" pitchFamily="34" charset="-122"/>
                <a:cs typeface="Calibri" pitchFamily="34" charset="-120"/>
              </a:rPr>
              <a:t>missing values</a:t>
            </a:r>
            <a:endParaRPr lang="en-US" sz="1200" dirty="0"/>
          </a:p>
        </p:txBody>
      </p:sp>
      <p:sp>
        <p:nvSpPr>
          <p:cNvPr id="13" name="Shape 11"/>
          <p:cNvSpPr/>
          <p:nvPr/>
        </p:nvSpPr>
        <p:spPr>
          <a:xfrm>
            <a:off x="9134856" y="1645920"/>
            <a:ext cx="2606040" cy="1325880"/>
          </a:xfrm>
          <a:prstGeom prst="roundRect">
            <a:avLst>
              <a:gd name="adj" fmla="val 551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4" name="Text 12"/>
          <p:cNvSpPr txBox="1"/>
          <p:nvPr/>
        </p:nvSpPr>
        <p:spPr>
          <a:xfrm>
            <a:off x="9134856" y="1783080"/>
            <a:ext cx="2606040" cy="64008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0</a:t>
            </a:r>
            <a:endParaRPr lang="en-US" sz="4000" dirty="0"/>
          </a:p>
        </p:txBody>
      </p:sp>
      <p:sp>
        <p:nvSpPr>
          <p:cNvPr id="15" name="Text 13"/>
          <p:cNvSpPr txBox="1"/>
          <p:nvPr/>
        </p:nvSpPr>
        <p:spPr>
          <a:xfrm>
            <a:off x="9134856" y="2450592"/>
            <a:ext cx="2606040" cy="274320"/>
          </a:xfrm>
          <a:prstGeom prst="rect">
            <a:avLst/>
          </a:prstGeom>
          <a:noFill/>
          <a:ln/>
        </p:spPr>
        <p:txBody>
          <a:bodyPr wrap="square" lIns="0" tIns="0" rIns="0" bIns="0" rtlCol="0" anchor="ctr"/>
          <a:lstStyle/>
          <a:p>
            <a:pPr algn="ctr" indent="0" marL="0">
              <a:buNone/>
            </a:pPr>
            <a:r>
              <a:rPr lang="en-US" sz="1200" dirty="0">
                <a:solidFill>
                  <a:srgbClr val="5C7A7D"/>
                </a:solidFill>
                <a:latin typeface="Calibri" pitchFamily="34" charset="0"/>
                <a:ea typeface="Calibri" pitchFamily="34" charset="-122"/>
                <a:cs typeface="Calibri" pitchFamily="34" charset="-120"/>
              </a:rPr>
              <a:t>duplicates</a:t>
            </a:r>
            <a:endParaRPr lang="en-US" sz="1200" dirty="0"/>
          </a:p>
        </p:txBody>
      </p:sp>
      <p:sp>
        <p:nvSpPr>
          <p:cNvPr id="16" name="Shape 14"/>
          <p:cNvSpPr/>
          <p:nvPr/>
        </p:nvSpPr>
        <p:spPr>
          <a:xfrm>
            <a:off x="548640" y="3246120"/>
            <a:ext cx="11064240" cy="2651760"/>
          </a:xfrm>
          <a:prstGeom prst="roundRect">
            <a:avLst>
              <a:gd name="adj" fmla="val 2759"/>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7" name="Text 15"/>
          <p:cNvSpPr txBox="1"/>
          <p:nvPr/>
        </p:nvSpPr>
        <p:spPr>
          <a:xfrm>
            <a:off x="914400" y="3474720"/>
            <a:ext cx="5486400" cy="27432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Columns in Mall_Customers.csv</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3822192"/>
          <a:ext cx="10332720" cy="914400"/>
        </p:xfrm>
        <a:graphic>
          <a:graphicData uri="http://schemas.openxmlformats.org/drawingml/2006/table">
            <a:tbl>
              <a:tblPr/>
              <a:tblGrid>
                <a:gridCol w="2377440"/>
                <a:gridCol w="1828800"/>
                <a:gridCol w="6126480"/>
              </a:tblGrid>
              <a:tr h="2834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Range</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r>
              <a:tr h="283464">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CustomerID</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1 – 200</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Just an ID — dropped, it carries no information</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Male / Female</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Tested, but did not improve the clusters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r>
              <a:tr h="283464">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Age</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18 – 70</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Tested, but did not improve the clusters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Annual Income (k$)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15 – 137</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indent="0" marL="0">
                        <a:buNone/>
                      </a:pPr>
                      <a:r>
                        <a:rPr lang="en-US" sz="1200" b="1" dirty="0">
                          <a:solidFill>
                            <a:srgbClr val="028090"/>
                          </a:solidFill>
                          <a:latin typeface="Calibri" pitchFamily="34" charset="0"/>
                          <a:ea typeface="Calibri" pitchFamily="34" charset="-122"/>
                          <a:cs typeface="Calibri" pitchFamily="34" charset="-120"/>
                        </a:rPr>
                        <a:t>USED — what a customer can afford to spend</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r>
              <a:tr h="283464">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Spending Score (1-100)</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dirty="0">
                          <a:solidFill>
                            <a:srgbClr val="16262E"/>
                          </a:solidFill>
                          <a:latin typeface="Calibri" pitchFamily="34" charset="0"/>
                          <a:ea typeface="Calibri" pitchFamily="34" charset="-122"/>
                          <a:cs typeface="Calibri" pitchFamily="34" charset="-120"/>
                        </a:rPr>
                        <a:t>1 – 99</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indent="0" marL="0">
                        <a:buNone/>
                      </a:pPr>
                      <a:r>
                        <a:rPr lang="en-US" sz="1200" b="1" dirty="0">
                          <a:solidFill>
                            <a:srgbClr val="028090"/>
                          </a:solidFill>
                          <a:latin typeface="Calibri" pitchFamily="34" charset="0"/>
                          <a:ea typeface="Calibri" pitchFamily="34" charset="-122"/>
                          <a:cs typeface="Calibri" pitchFamily="34" charset="-120"/>
                        </a:rPr>
                        <a:t>USED — how much they actually do spend</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THE PROCESS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Our Approach</a:t>
            </a:r>
            <a:endParaRPr lang="en-US" sz="3200" dirty="0"/>
          </a:p>
        </p:txBody>
      </p:sp>
      <p:sp>
        <p:nvSpPr>
          <p:cNvPr id="4" name="Shape 2"/>
          <p:cNvSpPr/>
          <p:nvPr/>
        </p:nvSpPr>
        <p:spPr>
          <a:xfrm>
            <a:off x="548640" y="1783080"/>
            <a:ext cx="2606040" cy="3291840"/>
          </a:xfrm>
          <a:prstGeom prst="roundRect">
            <a:avLst>
              <a:gd name="adj" fmla="val 280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Shape 3"/>
          <p:cNvSpPr/>
          <p:nvPr/>
        </p:nvSpPr>
        <p:spPr>
          <a:xfrm>
            <a:off x="804672" y="2057400"/>
            <a:ext cx="402336" cy="402336"/>
          </a:xfrm>
          <a:prstGeom prst="ellipse">
            <a:avLst/>
          </a:prstGeom>
          <a:solidFill>
            <a:srgbClr val="028090"/>
          </a:solidFill>
          <a:ln/>
        </p:spPr>
      </p:sp>
      <p:sp>
        <p:nvSpPr>
          <p:cNvPr id="6" name="Text 4"/>
          <p:cNvSpPr txBox="1"/>
          <p:nvPr/>
        </p:nvSpPr>
        <p:spPr>
          <a:xfrm>
            <a:off x="804672"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04672" y="2606040"/>
            <a:ext cx="2103120" cy="548640"/>
          </a:xfrm>
          <a:prstGeom prst="rect">
            <a:avLst/>
          </a:prstGeom>
          <a:noFill/>
          <a:ln/>
        </p:spPr>
        <p:txBody>
          <a:bodyPr wrap="square" lIns="0" tIns="0" rIns="0" bIns="0" rtlCol="0" anchor="ctr"/>
          <a:lstStyle/>
          <a:p>
            <a:pPr indent="0" marL="0">
              <a:lnSpc>
                <a:spcPts val="2000"/>
              </a:lnSpc>
              <a:buNone/>
            </a:pPr>
            <a:r>
              <a:rPr lang="en-US" sz="1700" b="1" dirty="0">
                <a:solidFill>
                  <a:srgbClr val="07393C"/>
                </a:solidFill>
                <a:latin typeface="Cambria" pitchFamily="34" charset="0"/>
                <a:ea typeface="Cambria" pitchFamily="34" charset="-122"/>
                <a:cs typeface="Cambria" pitchFamily="34" charset="-120"/>
              </a:rPr>
              <a:t>Explore &amp; Prepare</a:t>
            </a:r>
            <a:endParaRPr lang="en-US" sz="1700" dirty="0"/>
          </a:p>
        </p:txBody>
      </p:sp>
      <p:sp>
        <p:nvSpPr>
          <p:cNvPr id="8" name="Text 6"/>
          <p:cNvSpPr txBox="1"/>
          <p:nvPr/>
        </p:nvSpPr>
        <p:spPr>
          <a:xfrm>
            <a:off x="804672" y="3246120"/>
            <a:ext cx="2103120" cy="1645920"/>
          </a:xfrm>
          <a:prstGeom prst="rect">
            <a:avLst/>
          </a:prstGeom>
          <a:noFill/>
          <a:ln/>
        </p:spPr>
        <p:txBody>
          <a:bodyPr wrap="square" lIns="0" tIns="0" rIns="0" bIns="0" rtlCol="0" anchor="ctr"/>
          <a:lstStyle/>
          <a:p>
            <a:pPr indent="0" marL="0">
              <a:lnSpc>
                <a:spcPts val="1700"/>
              </a:lnSpc>
              <a:buNone/>
            </a:pPr>
            <a:r>
              <a:rPr lang="en-US" sz="1250" dirty="0">
                <a:solidFill>
                  <a:srgbClr val="16262E"/>
                </a:solidFill>
                <a:latin typeface="Calibri" pitchFamily="34" charset="0"/>
                <a:ea typeface="Calibri" pitchFamily="34" charset="-122"/>
                <a:cs typeface="Calibri" pitchFamily="34" charset="-120"/>
              </a:rPr>
              <a:t>Load the data, check for missing values, pick features, and put them on the same scale.</a:t>
            </a:r>
            <a:endParaRPr lang="en-US" sz="1250" dirty="0"/>
          </a:p>
        </p:txBody>
      </p:sp>
      <p:sp>
        <p:nvSpPr>
          <p:cNvPr id="9" name="Text 7"/>
          <p:cNvSpPr txBox="1"/>
          <p:nvPr/>
        </p:nvSpPr>
        <p:spPr>
          <a:xfrm>
            <a:off x="3127248" y="3108960"/>
            <a:ext cx="32004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10712" y="1783080"/>
            <a:ext cx="2606040" cy="3291840"/>
          </a:xfrm>
          <a:prstGeom prst="roundRect">
            <a:avLst>
              <a:gd name="adj" fmla="val 280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1" name="Shape 9"/>
          <p:cNvSpPr/>
          <p:nvPr/>
        </p:nvSpPr>
        <p:spPr>
          <a:xfrm>
            <a:off x="3666744" y="2057400"/>
            <a:ext cx="402336" cy="402336"/>
          </a:xfrm>
          <a:prstGeom prst="ellipse">
            <a:avLst/>
          </a:prstGeom>
          <a:solidFill>
            <a:srgbClr val="028090"/>
          </a:solidFill>
          <a:ln/>
        </p:spPr>
      </p:sp>
      <p:sp>
        <p:nvSpPr>
          <p:cNvPr id="12" name="Text 10"/>
          <p:cNvSpPr txBox="1"/>
          <p:nvPr/>
        </p:nvSpPr>
        <p:spPr>
          <a:xfrm>
            <a:off x="3666744"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666744" y="2606040"/>
            <a:ext cx="2103120" cy="548640"/>
          </a:xfrm>
          <a:prstGeom prst="rect">
            <a:avLst/>
          </a:prstGeom>
          <a:noFill/>
          <a:ln/>
        </p:spPr>
        <p:txBody>
          <a:bodyPr wrap="square" lIns="0" tIns="0" rIns="0" bIns="0" rtlCol="0" anchor="ctr"/>
          <a:lstStyle/>
          <a:p>
            <a:pPr indent="0" marL="0">
              <a:lnSpc>
                <a:spcPts val="2000"/>
              </a:lnSpc>
              <a:buNone/>
            </a:pPr>
            <a:r>
              <a:rPr lang="en-US" sz="1700" b="1" dirty="0">
                <a:solidFill>
                  <a:srgbClr val="07393C"/>
                </a:solidFill>
                <a:latin typeface="Cambria" pitchFamily="34" charset="0"/>
                <a:ea typeface="Cambria" pitchFamily="34" charset="-122"/>
                <a:cs typeface="Cambria" pitchFamily="34" charset="-120"/>
              </a:rPr>
              <a:t>Find k</a:t>
            </a:r>
            <a:endParaRPr lang="en-US" sz="1700" dirty="0"/>
          </a:p>
        </p:txBody>
      </p:sp>
      <p:sp>
        <p:nvSpPr>
          <p:cNvPr id="14" name="Text 12"/>
          <p:cNvSpPr txBox="1"/>
          <p:nvPr/>
        </p:nvSpPr>
        <p:spPr>
          <a:xfrm>
            <a:off x="3666744" y="3246120"/>
            <a:ext cx="2103120" cy="1645920"/>
          </a:xfrm>
          <a:prstGeom prst="rect">
            <a:avLst/>
          </a:prstGeom>
          <a:noFill/>
          <a:ln/>
        </p:spPr>
        <p:txBody>
          <a:bodyPr wrap="square" lIns="0" tIns="0" rIns="0" bIns="0" rtlCol="0" anchor="ctr"/>
          <a:lstStyle/>
          <a:p>
            <a:pPr indent="0" marL="0">
              <a:lnSpc>
                <a:spcPts val="1700"/>
              </a:lnSpc>
              <a:buNone/>
            </a:pPr>
            <a:r>
              <a:rPr lang="en-US" sz="1250" dirty="0">
                <a:solidFill>
                  <a:srgbClr val="16262E"/>
                </a:solidFill>
                <a:latin typeface="Calibri" pitchFamily="34" charset="0"/>
                <a:ea typeface="Calibri" pitchFamily="34" charset="-122"/>
                <a:cs typeface="Calibri" pitchFamily="34" charset="-120"/>
              </a:rPr>
              <a:t>Use three independent methods to decide how many clusters the data actually has.</a:t>
            </a:r>
            <a:endParaRPr lang="en-US" sz="1250" dirty="0"/>
          </a:p>
        </p:txBody>
      </p:sp>
      <p:sp>
        <p:nvSpPr>
          <p:cNvPr id="15" name="Text 13"/>
          <p:cNvSpPr txBox="1"/>
          <p:nvPr/>
        </p:nvSpPr>
        <p:spPr>
          <a:xfrm>
            <a:off x="5989320" y="3108960"/>
            <a:ext cx="32004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72784" y="1783080"/>
            <a:ext cx="2606040" cy="3291840"/>
          </a:xfrm>
          <a:prstGeom prst="roundRect">
            <a:avLst>
              <a:gd name="adj" fmla="val 280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7" name="Shape 15"/>
          <p:cNvSpPr/>
          <p:nvPr/>
        </p:nvSpPr>
        <p:spPr>
          <a:xfrm>
            <a:off x="6528816" y="2057400"/>
            <a:ext cx="402336" cy="402336"/>
          </a:xfrm>
          <a:prstGeom prst="ellipse">
            <a:avLst/>
          </a:prstGeom>
          <a:solidFill>
            <a:srgbClr val="028090"/>
          </a:solidFill>
          <a:ln/>
        </p:spPr>
      </p:sp>
      <p:sp>
        <p:nvSpPr>
          <p:cNvPr id="18" name="Text 16"/>
          <p:cNvSpPr txBox="1"/>
          <p:nvPr/>
        </p:nvSpPr>
        <p:spPr>
          <a:xfrm>
            <a:off x="6528816"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528816" y="2606040"/>
            <a:ext cx="2103120" cy="548640"/>
          </a:xfrm>
          <a:prstGeom prst="rect">
            <a:avLst/>
          </a:prstGeom>
          <a:noFill/>
          <a:ln/>
        </p:spPr>
        <p:txBody>
          <a:bodyPr wrap="square" lIns="0" tIns="0" rIns="0" bIns="0" rtlCol="0" anchor="ctr"/>
          <a:lstStyle/>
          <a:p>
            <a:pPr indent="0" marL="0">
              <a:lnSpc>
                <a:spcPts val="2000"/>
              </a:lnSpc>
              <a:buNone/>
            </a:pPr>
            <a:r>
              <a:rPr lang="en-US" sz="1700" b="1" dirty="0">
                <a:solidFill>
                  <a:srgbClr val="07393C"/>
                </a:solidFill>
                <a:latin typeface="Cambria" pitchFamily="34" charset="0"/>
                <a:ea typeface="Cambria" pitchFamily="34" charset="-122"/>
                <a:cs typeface="Cambria" pitchFamily="34" charset="-120"/>
              </a:rPr>
              <a:t>Cluster</a:t>
            </a:r>
            <a:endParaRPr lang="en-US" sz="1700" dirty="0"/>
          </a:p>
        </p:txBody>
      </p:sp>
      <p:sp>
        <p:nvSpPr>
          <p:cNvPr id="20" name="Text 18"/>
          <p:cNvSpPr txBox="1"/>
          <p:nvPr/>
        </p:nvSpPr>
        <p:spPr>
          <a:xfrm>
            <a:off x="6528816" y="3246120"/>
            <a:ext cx="2103120" cy="1645920"/>
          </a:xfrm>
          <a:prstGeom prst="rect">
            <a:avLst/>
          </a:prstGeom>
          <a:noFill/>
          <a:ln/>
        </p:spPr>
        <p:txBody>
          <a:bodyPr wrap="square" lIns="0" tIns="0" rIns="0" bIns="0" rtlCol="0" anchor="ctr"/>
          <a:lstStyle/>
          <a:p>
            <a:pPr indent="0" marL="0">
              <a:lnSpc>
                <a:spcPts val="1700"/>
              </a:lnSpc>
              <a:buNone/>
            </a:pPr>
            <a:r>
              <a:rPr lang="en-US" sz="1250" dirty="0">
                <a:solidFill>
                  <a:srgbClr val="16262E"/>
                </a:solidFill>
                <a:latin typeface="Calibri" pitchFamily="34" charset="0"/>
                <a:ea typeface="Calibri" pitchFamily="34" charset="-122"/>
                <a:cs typeface="Calibri" pitchFamily="34" charset="-120"/>
              </a:rPr>
              <a:t>Run two different algorithms and compare whether they agree.</a:t>
            </a:r>
            <a:endParaRPr lang="en-US" sz="1250" dirty="0"/>
          </a:p>
        </p:txBody>
      </p:sp>
      <p:sp>
        <p:nvSpPr>
          <p:cNvPr id="21" name="Text 19"/>
          <p:cNvSpPr txBox="1"/>
          <p:nvPr/>
        </p:nvSpPr>
        <p:spPr>
          <a:xfrm>
            <a:off x="8851392" y="3108960"/>
            <a:ext cx="32004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134856" y="1783080"/>
            <a:ext cx="2606040" cy="3291840"/>
          </a:xfrm>
          <a:prstGeom prst="roundRect">
            <a:avLst>
              <a:gd name="adj" fmla="val 2807"/>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3" name="Shape 21"/>
          <p:cNvSpPr/>
          <p:nvPr/>
        </p:nvSpPr>
        <p:spPr>
          <a:xfrm>
            <a:off x="9390888" y="2057400"/>
            <a:ext cx="402336" cy="402336"/>
          </a:xfrm>
          <a:prstGeom prst="ellipse">
            <a:avLst/>
          </a:prstGeom>
          <a:solidFill>
            <a:srgbClr val="02C39A"/>
          </a:solidFill>
          <a:ln/>
        </p:spPr>
      </p:sp>
      <p:sp>
        <p:nvSpPr>
          <p:cNvPr id="24" name="Text 22"/>
          <p:cNvSpPr txBox="1"/>
          <p:nvPr/>
        </p:nvSpPr>
        <p:spPr>
          <a:xfrm>
            <a:off x="9390888"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9390888" y="2606040"/>
            <a:ext cx="2103120" cy="548640"/>
          </a:xfrm>
          <a:prstGeom prst="rect">
            <a:avLst/>
          </a:prstGeom>
          <a:noFill/>
          <a:ln/>
        </p:spPr>
        <p:txBody>
          <a:bodyPr wrap="square" lIns="0" tIns="0" rIns="0" bIns="0" rtlCol="0" anchor="ctr"/>
          <a:lstStyle/>
          <a:p>
            <a:pPr indent="0" marL="0">
              <a:lnSpc>
                <a:spcPts val="2000"/>
              </a:lnSpc>
              <a:buNone/>
            </a:pPr>
            <a:r>
              <a:rPr lang="en-US" sz="1700" b="1" dirty="0">
                <a:solidFill>
                  <a:srgbClr val="07393C"/>
                </a:solidFill>
                <a:latin typeface="Cambria" pitchFamily="34" charset="0"/>
                <a:ea typeface="Cambria" pitchFamily="34" charset="-122"/>
                <a:cs typeface="Cambria" pitchFamily="34" charset="-120"/>
              </a:rPr>
              <a:t>Interpret</a:t>
            </a:r>
            <a:endParaRPr lang="en-US" sz="1700" dirty="0"/>
          </a:p>
        </p:txBody>
      </p:sp>
      <p:sp>
        <p:nvSpPr>
          <p:cNvPr id="26" name="Text 24"/>
          <p:cNvSpPr txBox="1"/>
          <p:nvPr/>
        </p:nvSpPr>
        <p:spPr>
          <a:xfrm>
            <a:off x="9390888" y="3246120"/>
            <a:ext cx="2103120" cy="1645920"/>
          </a:xfrm>
          <a:prstGeom prst="rect">
            <a:avLst/>
          </a:prstGeom>
          <a:noFill/>
          <a:ln/>
        </p:spPr>
        <p:txBody>
          <a:bodyPr wrap="square" lIns="0" tIns="0" rIns="0" bIns="0" rtlCol="0" anchor="ctr"/>
          <a:lstStyle/>
          <a:p>
            <a:pPr indent="0" marL="0">
              <a:lnSpc>
                <a:spcPts val="1700"/>
              </a:lnSpc>
              <a:buNone/>
            </a:pPr>
            <a:r>
              <a:rPr lang="en-US" sz="1250" dirty="0">
                <a:solidFill>
                  <a:srgbClr val="16262E"/>
                </a:solidFill>
                <a:latin typeface="Calibri" pitchFamily="34" charset="0"/>
                <a:ea typeface="Calibri" pitchFamily="34" charset="-122"/>
                <a:cs typeface="Calibri" pitchFamily="34" charset="-120"/>
              </a:rPr>
              <a:t>Turn the clusters into named customer segments with marketing actions.</a:t>
            </a:r>
            <a:endParaRPr lang="en-US" sz="1250" dirty="0"/>
          </a:p>
        </p:txBody>
      </p:sp>
      <p:sp>
        <p:nvSpPr>
          <p:cNvPr id="27" name="Text 25"/>
          <p:cNvSpPr txBox="1"/>
          <p:nvPr/>
        </p:nvSpPr>
        <p:spPr>
          <a:xfrm>
            <a:off x="548640" y="5303520"/>
            <a:ext cx="11064240" cy="457200"/>
          </a:xfrm>
          <a:prstGeom prst="rect">
            <a:avLst/>
          </a:prstGeom>
          <a:noFill/>
          <a:ln/>
        </p:spPr>
        <p:txBody>
          <a:bodyPr wrap="square" lIns="0" tIns="0" rIns="0" bIns="0" rtlCol="0" anchor="ctr"/>
          <a:lstStyle/>
          <a:p>
            <a:pPr indent="0" marL="0">
              <a:lnSpc>
                <a:spcPts val="1800"/>
              </a:lnSpc>
              <a:buNone/>
            </a:pPr>
            <a:r>
              <a:rPr lang="en-US" sz="1300" i="1" dirty="0">
                <a:solidFill>
                  <a:srgbClr val="5C7A7D"/>
                </a:solidFill>
                <a:latin typeface="Calibri" pitchFamily="34" charset="0"/>
                <a:ea typeface="Calibri" pitchFamily="34" charset="-122"/>
                <a:cs typeface="Calibri" pitchFamily="34" charset="-120"/>
              </a:rPr>
              <a:t>The order matters: we decide how many clusters exist BEFORE we run any clustering algorithm, so we are not just picking the number that gives us the answer we want.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DATA EXPLORATION</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1 — Exploring the Data</a:t>
            </a:r>
            <a:endParaRPr lang="en-US" sz="3200" dirty="0"/>
          </a:p>
        </p:txBody>
      </p:sp>
      <p:pic>
        <p:nvPicPr>
          <p:cNvPr id="4" name="Image 0" descr="/home/claude/simple/fig1_raw_data.png">    </p:cNvPr>
          <p:cNvPicPr>
            <a:picLocks noChangeAspect="1"/>
          </p:cNvPicPr>
          <p:nvPr/>
        </p:nvPicPr>
        <p:blipFill>
          <a:blip r:embed="rId1"/>
          <a:stretch>
            <a:fillRect/>
          </a:stretch>
        </p:blipFill>
        <p:spPr>
          <a:xfrm>
            <a:off x="548640" y="1554480"/>
            <a:ext cx="6035040" cy="4160520"/>
          </a:xfrm>
          <a:prstGeom prst="rect">
            <a:avLst/>
          </a:prstGeom>
        </p:spPr>
      </p:pic>
      <p:sp>
        <p:nvSpPr>
          <p:cNvPr id="5" name="Shape 2"/>
          <p:cNvSpPr/>
          <p:nvPr/>
        </p:nvSpPr>
        <p:spPr>
          <a:xfrm>
            <a:off x="6858000" y="1554480"/>
            <a:ext cx="4754880" cy="4160520"/>
          </a:xfrm>
          <a:prstGeom prst="roundRect">
            <a:avLst>
              <a:gd name="adj" fmla="val 175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7178040" y="1810512"/>
            <a:ext cx="411480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What the plot tells us</a:t>
            </a:r>
            <a:endParaRPr lang="en-US" sz="1600" dirty="0"/>
          </a:p>
        </p:txBody>
      </p:sp>
      <p:sp>
        <p:nvSpPr>
          <p:cNvPr id="7" name="Text 4"/>
          <p:cNvSpPr txBox="1"/>
          <p:nvPr/>
        </p:nvSpPr>
        <p:spPr>
          <a:xfrm>
            <a:off x="7178040" y="2240280"/>
            <a:ext cx="4114800" cy="329184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Before running any algorithm, we plotted income against spending score.</a:t>
            </a:r>
            <a:endParaRPr lang="en-US" sz="1350" dirty="0"/>
          </a:p>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Five separate blobs are visible by eye: four in the corners and one dense group in the middle.</a:t>
            </a:r>
            <a:endParaRPr lang="en-US" sz="1350" dirty="0"/>
          </a:p>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This is our first clue that k = 5 — and it means we can sanity-check whatever the algorithms produce.</a:t>
            </a:r>
            <a:endParaRPr lang="en-US" sz="1350" dirty="0"/>
          </a:p>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It also confirms the groups are roughly round, which matters because K-Means can only find round clusters.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PREPROCESSING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1 — Preparing the Data</a:t>
            </a:r>
            <a:endParaRPr lang="en-US" sz="3200" dirty="0"/>
          </a:p>
        </p:txBody>
      </p:sp>
      <p:sp>
        <p:nvSpPr>
          <p:cNvPr id="4" name="Shape 2"/>
          <p:cNvSpPr/>
          <p:nvPr/>
        </p:nvSpPr>
        <p:spPr>
          <a:xfrm>
            <a:off x="548640" y="1645920"/>
            <a:ext cx="3520440" cy="3931920"/>
          </a:xfrm>
          <a:prstGeom prst="roundRect">
            <a:avLst>
              <a:gd name="adj" fmla="val 20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Shape 3"/>
          <p:cNvSpPr/>
          <p:nvPr/>
        </p:nvSpPr>
        <p:spPr>
          <a:xfrm>
            <a:off x="868680" y="1920240"/>
            <a:ext cx="402336" cy="402336"/>
          </a:xfrm>
          <a:prstGeom prst="ellipse">
            <a:avLst/>
          </a:prstGeom>
          <a:solidFill>
            <a:srgbClr val="028090"/>
          </a:solidFill>
          <a:ln/>
        </p:spPr>
      </p:sp>
      <p:sp>
        <p:nvSpPr>
          <p:cNvPr id="6" name="Text 4"/>
          <p:cNvSpPr txBox="1"/>
          <p:nvPr/>
        </p:nvSpPr>
        <p:spPr>
          <a:xfrm>
            <a:off x="868680" y="1920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68680" y="2450592"/>
            <a:ext cx="2926080" cy="320040"/>
          </a:xfrm>
          <a:prstGeom prst="rect">
            <a:avLst/>
          </a:prstGeom>
          <a:noFill/>
          <a:ln/>
        </p:spPr>
        <p:txBody>
          <a:bodyPr wrap="square" lIns="0" tIns="0" rIns="0" bIns="0" rtlCol="0" anchor="ctr"/>
          <a:lstStyle/>
          <a:p>
            <a:pPr indent="0" marL="0">
              <a:buNone/>
            </a:pPr>
            <a:r>
              <a:rPr lang="en-US" sz="1700" b="1" dirty="0">
                <a:solidFill>
                  <a:srgbClr val="07393C"/>
                </a:solidFill>
                <a:latin typeface="Cambria" pitchFamily="34" charset="0"/>
                <a:ea typeface="Cambria" pitchFamily="34" charset="-122"/>
                <a:cs typeface="Cambria" pitchFamily="34" charset="-120"/>
              </a:rPr>
              <a:t>Missing values</a:t>
            </a:r>
            <a:endParaRPr lang="en-US" sz="1700" dirty="0"/>
          </a:p>
        </p:txBody>
      </p:sp>
      <p:sp>
        <p:nvSpPr>
          <p:cNvPr id="8" name="Text 6"/>
          <p:cNvSpPr txBox="1"/>
          <p:nvPr/>
        </p:nvSpPr>
        <p:spPr>
          <a:xfrm>
            <a:off x="868680" y="2880360"/>
            <a:ext cx="2926080" cy="2468880"/>
          </a:xfrm>
          <a:prstGeom prst="rect">
            <a:avLst/>
          </a:prstGeom>
          <a:noFill/>
          <a:ln/>
        </p:spPr>
        <p:txBody>
          <a:bodyPr wrap="square" lIns="0" tIns="0" rIns="0" bIns="0" rtlCol="0" anchor="t"/>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We checked every column with isnull().sum(). The result was zero, so no imputation was needed.</a:t>
            </a:r>
            <a:endParaRPr lang="en-US" sz="1300" dirty="0"/>
          </a:p>
          <a:p>
            <a:pPr indent="0" marL="0">
              <a:lnSpc>
                <a:spcPts val="1800"/>
              </a:lnSpc>
              <a:buNone/>
            </a:pPr>
            <a:endParaRPr lang="en-US" sz="1300" dirty="0"/>
          </a:p>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The check still belongs in the code — you cannot claim data is clean without testing it.</a:t>
            </a:r>
            <a:endParaRPr lang="en-US" sz="1300" dirty="0"/>
          </a:p>
        </p:txBody>
      </p:sp>
      <p:sp>
        <p:nvSpPr>
          <p:cNvPr id="9" name="Shape 7"/>
          <p:cNvSpPr/>
          <p:nvPr/>
        </p:nvSpPr>
        <p:spPr>
          <a:xfrm>
            <a:off x="4315968" y="1645920"/>
            <a:ext cx="3520440" cy="3931920"/>
          </a:xfrm>
          <a:prstGeom prst="roundRect">
            <a:avLst>
              <a:gd name="adj" fmla="val 20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0" name="Shape 8"/>
          <p:cNvSpPr/>
          <p:nvPr/>
        </p:nvSpPr>
        <p:spPr>
          <a:xfrm>
            <a:off x="4636008" y="1920240"/>
            <a:ext cx="402336" cy="402336"/>
          </a:xfrm>
          <a:prstGeom prst="ellipse">
            <a:avLst/>
          </a:prstGeom>
          <a:solidFill>
            <a:srgbClr val="028090"/>
          </a:solidFill>
          <a:ln/>
        </p:spPr>
      </p:sp>
      <p:sp>
        <p:nvSpPr>
          <p:cNvPr id="11" name="Text 9"/>
          <p:cNvSpPr txBox="1"/>
          <p:nvPr/>
        </p:nvSpPr>
        <p:spPr>
          <a:xfrm>
            <a:off x="4636008" y="1920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36008" y="2450592"/>
            <a:ext cx="2926080" cy="320040"/>
          </a:xfrm>
          <a:prstGeom prst="rect">
            <a:avLst/>
          </a:prstGeom>
          <a:noFill/>
          <a:ln/>
        </p:spPr>
        <p:txBody>
          <a:bodyPr wrap="square" lIns="0" tIns="0" rIns="0" bIns="0" rtlCol="0" anchor="ctr"/>
          <a:lstStyle/>
          <a:p>
            <a:pPr indent="0" marL="0">
              <a:buNone/>
            </a:pPr>
            <a:r>
              <a:rPr lang="en-US" sz="1700" b="1" dirty="0">
                <a:solidFill>
                  <a:srgbClr val="07393C"/>
                </a:solidFill>
                <a:latin typeface="Cambria" pitchFamily="34" charset="0"/>
                <a:ea typeface="Cambria" pitchFamily="34" charset="-122"/>
                <a:cs typeface="Cambria" pitchFamily="34" charset="-120"/>
              </a:rPr>
              <a:t>Feature selection</a:t>
            </a:r>
            <a:endParaRPr lang="en-US" sz="1700" dirty="0"/>
          </a:p>
        </p:txBody>
      </p:sp>
      <p:sp>
        <p:nvSpPr>
          <p:cNvPr id="13" name="Text 11"/>
          <p:cNvSpPr txBox="1"/>
          <p:nvPr/>
        </p:nvSpPr>
        <p:spPr>
          <a:xfrm>
            <a:off x="4636008" y="2880360"/>
            <a:ext cx="2926080" cy="2468880"/>
          </a:xfrm>
          <a:prstGeom prst="rect">
            <a:avLst/>
          </a:prstGeom>
          <a:noFill/>
          <a:ln/>
        </p:spPr>
        <p:txBody>
          <a:bodyPr wrap="square" lIns="0" tIns="0" rIns="0" bIns="0" rtlCol="0" anchor="t"/>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We used Annual Income and Spending Score.</a:t>
            </a:r>
            <a:endParaRPr lang="en-US" sz="1300" dirty="0"/>
          </a:p>
          <a:p>
            <a:pPr indent="0" marL="0">
              <a:lnSpc>
                <a:spcPts val="1800"/>
              </a:lnSpc>
              <a:buNone/>
            </a:pPr>
            <a:endParaRPr lang="en-US" sz="1300" dirty="0"/>
          </a:p>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These are the two things marketing can act on, and using two features means we can plot the result directly with no dimensionality reduction.</a:t>
            </a:r>
            <a:endParaRPr lang="en-US" sz="1300" dirty="0"/>
          </a:p>
        </p:txBody>
      </p:sp>
      <p:sp>
        <p:nvSpPr>
          <p:cNvPr id="14" name="Shape 12"/>
          <p:cNvSpPr/>
          <p:nvPr/>
        </p:nvSpPr>
        <p:spPr>
          <a:xfrm>
            <a:off x="8092440" y="1645920"/>
            <a:ext cx="3520440" cy="3931920"/>
          </a:xfrm>
          <a:prstGeom prst="roundRect">
            <a:avLst>
              <a:gd name="adj" fmla="val 20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5" name="Shape 13"/>
          <p:cNvSpPr/>
          <p:nvPr/>
        </p:nvSpPr>
        <p:spPr>
          <a:xfrm>
            <a:off x="8412480" y="1920240"/>
            <a:ext cx="402336" cy="402336"/>
          </a:xfrm>
          <a:prstGeom prst="ellipse">
            <a:avLst/>
          </a:prstGeom>
          <a:solidFill>
            <a:srgbClr val="02C39A"/>
          </a:solidFill>
          <a:ln/>
        </p:spPr>
      </p:sp>
      <p:sp>
        <p:nvSpPr>
          <p:cNvPr id="16" name="Text 14"/>
          <p:cNvSpPr txBox="1"/>
          <p:nvPr/>
        </p:nvSpPr>
        <p:spPr>
          <a:xfrm>
            <a:off x="8412480" y="1920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412480" y="2450592"/>
            <a:ext cx="2926080" cy="320040"/>
          </a:xfrm>
          <a:prstGeom prst="rect">
            <a:avLst/>
          </a:prstGeom>
          <a:noFill/>
          <a:ln/>
        </p:spPr>
        <p:txBody>
          <a:bodyPr wrap="square" lIns="0" tIns="0" rIns="0" bIns="0" rtlCol="0" anchor="ctr"/>
          <a:lstStyle/>
          <a:p>
            <a:pPr indent="0" marL="0">
              <a:buNone/>
            </a:pPr>
            <a:r>
              <a:rPr lang="en-US" sz="1700" b="1" dirty="0">
                <a:solidFill>
                  <a:srgbClr val="07393C"/>
                </a:solidFill>
                <a:latin typeface="Cambria" pitchFamily="34" charset="0"/>
                <a:ea typeface="Cambria" pitchFamily="34" charset="-122"/>
                <a:cs typeface="Cambria" pitchFamily="34" charset="-120"/>
              </a:rPr>
              <a:t>Standardization</a:t>
            </a:r>
            <a:endParaRPr lang="en-US" sz="1700" dirty="0"/>
          </a:p>
        </p:txBody>
      </p:sp>
      <p:sp>
        <p:nvSpPr>
          <p:cNvPr id="18" name="Text 16"/>
          <p:cNvSpPr txBox="1"/>
          <p:nvPr/>
        </p:nvSpPr>
        <p:spPr>
          <a:xfrm>
            <a:off x="8412480" y="2880360"/>
            <a:ext cx="2926080" cy="2468880"/>
          </a:xfrm>
          <a:prstGeom prst="rect">
            <a:avLst/>
          </a:prstGeom>
          <a:noFill/>
          <a:ln/>
        </p:spPr>
        <p:txBody>
          <a:bodyPr wrap="square" lIns="0" tIns="0" rIns="0" bIns="0" rtlCol="0" anchor="t"/>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Income runs 15–137. Spending Score runs 1–99.</a:t>
            </a:r>
            <a:endParaRPr lang="en-US" sz="1300" dirty="0"/>
          </a:p>
          <a:p>
            <a:pPr indent="0" marL="0">
              <a:lnSpc>
                <a:spcPts val="1800"/>
              </a:lnSpc>
              <a:buNone/>
            </a:pPr>
            <a:endParaRPr lang="en-US" sz="1300" dirty="0"/>
          </a:p>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Clustering measures distance, so without scaling, Income would dominate purely because its numbers are bigger.</a:t>
            </a:r>
            <a:endParaRPr lang="en-US" sz="1300" dirty="0"/>
          </a:p>
          <a:p>
            <a:pPr indent="0" marL="0">
              <a:lnSpc>
                <a:spcPts val="1800"/>
              </a:lnSpc>
              <a:buNone/>
            </a:pPr>
            <a:endParaRPr lang="en-US" sz="1300" dirty="0"/>
          </a:p>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StandardScaler puts both at mean 0, std 1 — so each counts equally.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A DECISION WE TESTED</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Why Only Two Features?</a:t>
            </a:r>
            <a:endParaRPr lang="en-US" sz="3200" dirty="0"/>
          </a:p>
        </p:txBody>
      </p:sp>
      <p:sp>
        <p:nvSpPr>
          <p:cNvPr id="4" name="Shape 2"/>
          <p:cNvSpPr/>
          <p:nvPr/>
        </p:nvSpPr>
        <p:spPr>
          <a:xfrm>
            <a:off x="548640" y="1645920"/>
            <a:ext cx="5486400" cy="3931920"/>
          </a:xfrm>
          <a:prstGeom prst="roundRect">
            <a:avLst>
              <a:gd name="adj" fmla="val 1860"/>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Text 3"/>
          <p:cNvSpPr txBox="1"/>
          <p:nvPr/>
        </p:nvSpPr>
        <p:spPr>
          <a:xfrm>
            <a:off x="914400" y="1901952"/>
            <a:ext cx="475488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What we tried</a:t>
            </a:r>
            <a:endParaRPr lang="en-US" sz="1600" dirty="0"/>
          </a:p>
        </p:txBody>
      </p:sp>
      <p:sp>
        <p:nvSpPr>
          <p:cNvPr id="6" name="Text 4"/>
          <p:cNvSpPr txBox="1"/>
          <p:nvPr/>
        </p:nvSpPr>
        <p:spPr>
          <a:xfrm>
            <a:off x="914400" y="2331720"/>
            <a:ext cx="4754880" cy="21031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The dataset also has Age and Gender, so we tested adding them.</a:t>
            </a:r>
            <a:endParaRPr lang="en-US" sz="1350" dirty="0"/>
          </a:p>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Gender is text, so it first has to be converted to numbers using one-hot encoding.</a:t>
            </a:r>
            <a:endParaRPr lang="en-US" sz="1350" dirty="0"/>
          </a:p>
          <a:p>
            <a:pPr marL="342900" indent="-342900">
              <a:lnSpc>
                <a:spcPts val="2000"/>
              </a:lnSpc>
              <a:spcAft>
                <a:spcPts val="800"/>
              </a:spcAft>
              <a:buSzPct val="100000"/>
              <a:buChar char="•"/>
            </a:pPr>
            <a:r>
              <a:rPr lang="en-US" sz="1350" dirty="0">
                <a:solidFill>
                  <a:srgbClr val="16262E"/>
                </a:solidFill>
                <a:latin typeface="Calibri" pitchFamily="34" charset="0"/>
                <a:ea typeface="Calibri" pitchFamily="34" charset="-122"/>
                <a:cs typeface="Calibri" pitchFamily="34" charset="-120"/>
              </a:rPr>
              <a:t>We then compared the silhouette score with and without the extra features.</a:t>
            </a:r>
            <a:endParaRPr lang="en-US" sz="1350" dirty="0"/>
          </a:p>
        </p:txBody>
      </p:sp>
      <p:sp>
        <p:nvSpPr>
          <p:cNvPr id="7" name="Text 5"/>
          <p:cNvSpPr txBox="1"/>
          <p:nvPr/>
        </p:nvSpPr>
        <p:spPr>
          <a:xfrm>
            <a:off x="914400" y="4526280"/>
            <a:ext cx="4754880" cy="777240"/>
          </a:xfrm>
          <a:prstGeom prst="rect">
            <a:avLst/>
          </a:prstGeom>
          <a:noFill/>
          <a:ln/>
        </p:spPr>
        <p:txBody>
          <a:bodyPr wrap="square" lIns="0" tIns="0" rIns="0" bIns="0" rtlCol="0" anchor="ctr"/>
          <a:lstStyle/>
          <a:p>
            <a:pPr indent="0" marL="0">
              <a:lnSpc>
                <a:spcPts val="1900"/>
              </a:lnSpc>
              <a:buNone/>
            </a:pPr>
            <a:r>
              <a:rPr lang="en-US" sz="1400" b="1" dirty="0">
                <a:solidFill>
                  <a:srgbClr val="07393C"/>
                </a:solidFill>
                <a:latin typeface="Calibri" pitchFamily="34" charset="0"/>
                <a:ea typeface="Calibri" pitchFamily="34" charset="-122"/>
                <a:cs typeface="Calibri" pitchFamily="34" charset="-120"/>
              </a:rPr>
              <a:t>Result: the score went DOWN, and the clusters became harder to explain.</a:t>
            </a:r>
            <a:endParaRPr lang="en-US" sz="1400" dirty="0"/>
          </a:p>
        </p:txBody>
      </p:sp>
      <p:sp>
        <p:nvSpPr>
          <p:cNvPr id="8" name="Shape 6"/>
          <p:cNvSpPr/>
          <p:nvPr/>
        </p:nvSpPr>
        <p:spPr>
          <a:xfrm>
            <a:off x="6263640" y="1645920"/>
            <a:ext cx="5349240" cy="3931920"/>
          </a:xfrm>
          <a:prstGeom prst="roundRect">
            <a:avLst>
              <a:gd name="adj" fmla="val 1860"/>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9" name="Text 7"/>
          <p:cNvSpPr txBox="1"/>
          <p:nvPr/>
        </p:nvSpPr>
        <p:spPr>
          <a:xfrm>
            <a:off x="6629400" y="1901952"/>
            <a:ext cx="461772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What that taught us</a:t>
            </a:r>
            <a:endParaRPr lang="en-US" sz="1600" dirty="0"/>
          </a:p>
        </p:txBody>
      </p:sp>
      <p:sp>
        <p:nvSpPr>
          <p:cNvPr id="10" name="Text 8"/>
          <p:cNvSpPr txBox="1"/>
          <p:nvPr/>
        </p:nvSpPr>
        <p:spPr>
          <a:xfrm>
            <a:off x="6629400" y="2331720"/>
            <a:ext cx="4617720" cy="320040"/>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More features does not mean a better model.</a:t>
            </a:r>
            <a:endParaRPr lang="en-US" sz="1400" dirty="0"/>
          </a:p>
        </p:txBody>
      </p:sp>
      <p:sp>
        <p:nvSpPr>
          <p:cNvPr id="11" name="Text 9"/>
          <p:cNvSpPr txBox="1"/>
          <p:nvPr/>
        </p:nvSpPr>
        <p:spPr>
          <a:xfrm>
            <a:off x="6629400" y="2697480"/>
            <a:ext cx="4617720" cy="118872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Every extra feature adds a dimension to the distance calculation. If that feature has no real pattern in it, all it adds is noise — and noise pushes genuinely similar customers apart.</a:t>
            </a:r>
            <a:endParaRPr lang="en-US" sz="1350" dirty="0"/>
          </a:p>
        </p:txBody>
      </p:sp>
      <p:sp>
        <p:nvSpPr>
          <p:cNvPr id="12" name="Text 10"/>
          <p:cNvSpPr txBox="1"/>
          <p:nvPr/>
        </p:nvSpPr>
        <p:spPr>
          <a:xfrm>
            <a:off x="6629400" y="3931920"/>
            <a:ext cx="4617720" cy="137160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Gender turned out to carry almost no signal: every cluster came back close to the dataset's own 56% / 44% female-male split, meaning the groups were not divided by gender at all.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THE ELBOW METHOD</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2 — How Many Clusters? (1 of 3)</a:t>
            </a:r>
            <a:endParaRPr lang="en-US" sz="3200" dirty="0"/>
          </a:p>
        </p:txBody>
      </p:sp>
      <p:pic>
        <p:nvPicPr>
          <p:cNvPr id="4" name="Image 0" descr="/home/claude/simple/fig2_elbow.png">    </p:cNvPr>
          <p:cNvPicPr>
            <a:picLocks noChangeAspect="1"/>
          </p:cNvPicPr>
          <p:nvPr/>
        </p:nvPicPr>
        <p:blipFill>
          <a:blip r:embed="rId1"/>
          <a:stretch>
            <a:fillRect/>
          </a:stretch>
        </p:blipFill>
        <p:spPr>
          <a:xfrm>
            <a:off x="548640" y="1554480"/>
            <a:ext cx="5852160" cy="4160520"/>
          </a:xfrm>
          <a:prstGeom prst="rect">
            <a:avLst/>
          </a:prstGeom>
        </p:spPr>
      </p:pic>
      <p:sp>
        <p:nvSpPr>
          <p:cNvPr id="5" name="Shape 2"/>
          <p:cNvSpPr/>
          <p:nvPr/>
        </p:nvSpPr>
        <p:spPr>
          <a:xfrm>
            <a:off x="6675120" y="1554480"/>
            <a:ext cx="4937760" cy="4160520"/>
          </a:xfrm>
          <a:prstGeom prst="roundRect">
            <a:avLst>
              <a:gd name="adj" fmla="val 175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6995160" y="1810512"/>
            <a:ext cx="429768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How it works</a:t>
            </a:r>
            <a:endParaRPr lang="en-US" sz="1600" dirty="0"/>
          </a:p>
        </p:txBody>
      </p:sp>
      <p:sp>
        <p:nvSpPr>
          <p:cNvPr id="7" name="Text 4"/>
          <p:cNvSpPr txBox="1"/>
          <p:nvPr/>
        </p:nvSpPr>
        <p:spPr>
          <a:xfrm>
            <a:off x="6995160" y="2212848"/>
            <a:ext cx="4297680" cy="68580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WCSS measures how spread out the points are inside their own cluster. Lower is tighter.</a:t>
            </a:r>
            <a:endParaRPr lang="en-US" sz="1350" dirty="0"/>
          </a:p>
        </p:txBody>
      </p:sp>
      <p:sp>
        <p:nvSpPr>
          <p:cNvPr id="8" name="Text 5"/>
          <p:cNvSpPr txBox="1"/>
          <p:nvPr/>
        </p:nvSpPr>
        <p:spPr>
          <a:xfrm>
            <a:off x="6995160" y="2971800"/>
            <a:ext cx="4297680" cy="320040"/>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The catch</a:t>
            </a:r>
            <a:endParaRPr lang="en-US" sz="1400" dirty="0"/>
          </a:p>
        </p:txBody>
      </p:sp>
      <p:sp>
        <p:nvSpPr>
          <p:cNvPr id="9" name="Text 6"/>
          <p:cNvSpPr txBox="1"/>
          <p:nvPr/>
        </p:nvSpPr>
        <p:spPr>
          <a:xfrm>
            <a:off x="6995160" y="3310128"/>
            <a:ext cx="4297680" cy="91440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WCSS always falls as k rises. At k = 200 every customer is their own cluster and WCSS is zero — perfect, and completely useless.</a:t>
            </a:r>
            <a:endParaRPr lang="en-US" sz="1350" dirty="0"/>
          </a:p>
        </p:txBody>
      </p:sp>
      <p:sp>
        <p:nvSpPr>
          <p:cNvPr id="10" name="Text 7"/>
          <p:cNvSpPr txBox="1"/>
          <p:nvPr/>
        </p:nvSpPr>
        <p:spPr>
          <a:xfrm>
            <a:off x="6995160" y="4315968"/>
            <a:ext cx="4297680" cy="100584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So we look for the bend — the point where adding another cluster stops buying us much. Here the curve clearly flattens at k = 5.</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SILHOUETTE SCORE</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2 — How Many Clusters? (2 of 3)</a:t>
            </a:r>
            <a:endParaRPr lang="en-US" sz="3200" dirty="0"/>
          </a:p>
        </p:txBody>
      </p:sp>
      <p:pic>
        <p:nvPicPr>
          <p:cNvPr id="4" name="Image 0" descr="/home/claude/simple/fig3_silhouette.png">    </p:cNvPr>
          <p:cNvPicPr>
            <a:picLocks noChangeAspect="1"/>
          </p:cNvPicPr>
          <p:nvPr/>
        </p:nvPicPr>
        <p:blipFill>
          <a:blip r:embed="rId1"/>
          <a:stretch>
            <a:fillRect/>
          </a:stretch>
        </p:blipFill>
        <p:spPr>
          <a:xfrm>
            <a:off x="548640" y="1554480"/>
            <a:ext cx="5852160" cy="4160520"/>
          </a:xfrm>
          <a:prstGeom prst="rect">
            <a:avLst/>
          </a:prstGeom>
        </p:spPr>
      </p:pic>
      <p:sp>
        <p:nvSpPr>
          <p:cNvPr id="5" name="Shape 2"/>
          <p:cNvSpPr/>
          <p:nvPr/>
        </p:nvSpPr>
        <p:spPr>
          <a:xfrm>
            <a:off x="6675120" y="1554480"/>
            <a:ext cx="4937760" cy="2148840"/>
          </a:xfrm>
          <a:prstGeom prst="roundRect">
            <a:avLst>
              <a:gd name="adj" fmla="val 3404"/>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6995160" y="1783080"/>
            <a:ext cx="429768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How it works</a:t>
            </a:r>
            <a:endParaRPr lang="en-US" sz="1600" dirty="0"/>
          </a:p>
        </p:txBody>
      </p:sp>
      <p:sp>
        <p:nvSpPr>
          <p:cNvPr id="7" name="Text 4"/>
          <p:cNvSpPr txBox="1"/>
          <p:nvPr/>
        </p:nvSpPr>
        <p:spPr>
          <a:xfrm>
            <a:off x="6995160" y="2176272"/>
            <a:ext cx="4297680" cy="1371600"/>
          </a:xfrm>
          <a:prstGeom prst="rect">
            <a:avLst/>
          </a:prstGeom>
          <a:noFill/>
          <a:ln/>
        </p:spPr>
        <p:txBody>
          <a:bodyPr wrap="square" lIns="0" tIns="0" rIns="0" bIns="0" rtlCol="0" anchor="ctr"/>
          <a:lstStyle/>
          <a:p>
            <a:pPr indent="0" marL="0">
              <a:lnSpc>
                <a:spcPts val="1900"/>
              </a:lnSpc>
              <a:buNone/>
            </a:pPr>
            <a:r>
              <a:rPr lang="en-US" sz="1350" dirty="0">
                <a:solidFill>
                  <a:srgbClr val="16262E"/>
                </a:solidFill>
                <a:latin typeface="Calibri" pitchFamily="34" charset="0"/>
                <a:ea typeface="Calibri" pitchFamily="34" charset="-122"/>
                <a:cs typeface="Calibri" pitchFamily="34" charset="-120"/>
              </a:rPr>
              <a:t>For each customer it asks: am I closer to my own cluster, or to the nearest other one? It runs from −1 to 1, and unlike WCSS it does NOT automatically improve with more clusters — so it gives a real peak.</a:t>
            </a:r>
            <a:endParaRPr lang="en-US" sz="1350" dirty="0"/>
          </a:p>
        </p:txBody>
      </p:sp>
      <p:sp>
        <p:nvSpPr>
          <p:cNvPr id="8" name="Shape 5"/>
          <p:cNvSpPr/>
          <p:nvPr/>
        </p:nvSpPr>
        <p:spPr>
          <a:xfrm>
            <a:off x="6675120" y="3886200"/>
            <a:ext cx="4937760" cy="1828800"/>
          </a:xfrm>
          <a:prstGeom prst="roundRect">
            <a:avLst>
              <a:gd name="adj" fmla="val 4000"/>
            </a:avLst>
          </a:prstGeom>
          <a:solidFill>
            <a:srgbClr val="07393C"/>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9" name="Text 6"/>
          <p:cNvSpPr txBox="1"/>
          <p:nvPr/>
        </p:nvSpPr>
        <p:spPr>
          <a:xfrm>
            <a:off x="6995160" y="4069080"/>
            <a:ext cx="4297680" cy="27432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Highest score</a:t>
            </a:r>
            <a:endParaRPr lang="en-US" sz="1200" dirty="0"/>
          </a:p>
        </p:txBody>
      </p:sp>
      <p:sp>
        <p:nvSpPr>
          <p:cNvPr id="10" name="Text 7"/>
          <p:cNvSpPr txBox="1"/>
          <p:nvPr/>
        </p:nvSpPr>
        <p:spPr>
          <a:xfrm>
            <a:off x="6995160" y="4343400"/>
            <a:ext cx="21945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0.5547</a:t>
            </a:r>
            <a:endParaRPr lang="en-US" sz="3800" dirty="0"/>
          </a:p>
        </p:txBody>
      </p:sp>
      <p:sp>
        <p:nvSpPr>
          <p:cNvPr id="11" name="Text 8"/>
          <p:cNvSpPr txBox="1"/>
          <p:nvPr/>
        </p:nvSpPr>
        <p:spPr>
          <a:xfrm>
            <a:off x="9144000" y="4553712"/>
            <a:ext cx="2103120" cy="365760"/>
          </a:xfrm>
          <a:prstGeom prst="rect">
            <a:avLst/>
          </a:prstGeom>
          <a:noFill/>
          <a:ln/>
        </p:spPr>
        <p:txBody>
          <a:bodyPr wrap="square" lIns="0" tIns="0" rIns="0" bIns="0" rtlCol="0" anchor="ctr"/>
          <a:lstStyle/>
          <a:p>
            <a:pPr indent="0" marL="0">
              <a:buNone/>
            </a:pPr>
            <a:r>
              <a:rPr lang="en-US" sz="1700" dirty="0">
                <a:solidFill>
                  <a:srgbClr val="BFD8D8"/>
                </a:solidFill>
                <a:latin typeface="Calibri" pitchFamily="34" charset="0"/>
                <a:ea typeface="Calibri" pitchFamily="34" charset="-122"/>
                <a:cs typeface="Calibri" pitchFamily="34" charset="-120"/>
              </a:rPr>
              <a:t>at k = 5</a:t>
            </a:r>
            <a:endParaRPr lang="en-US" sz="1700" dirty="0"/>
          </a:p>
        </p:txBody>
      </p:sp>
      <p:sp>
        <p:nvSpPr>
          <p:cNvPr id="12" name="Text 9"/>
          <p:cNvSpPr txBox="1"/>
          <p:nvPr/>
        </p:nvSpPr>
        <p:spPr>
          <a:xfrm>
            <a:off x="6995160" y="5074920"/>
            <a:ext cx="4297680" cy="502920"/>
          </a:xfrm>
          <a:prstGeom prst="rect">
            <a:avLst/>
          </a:prstGeom>
          <a:noFill/>
          <a:ln/>
        </p:spPr>
        <p:txBody>
          <a:bodyPr wrap="square" lIns="0" tIns="0" rIns="0" bIns="0" rtlCol="0" anchor="ctr"/>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A clear peak, not a flat line — the data really does prefer five groups.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DENDROGRAM ANALYSIS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2 — How Many Clusters? (3 of 3)</a:t>
            </a:r>
            <a:endParaRPr lang="en-US" sz="3200" dirty="0"/>
          </a:p>
        </p:txBody>
      </p:sp>
      <p:pic>
        <p:nvPicPr>
          <p:cNvPr id="4" name="Image 0" descr="/home/claude/simple/fig4_dendrogram.png">    </p:cNvPr>
          <p:cNvPicPr>
            <a:picLocks noChangeAspect="1"/>
          </p:cNvPicPr>
          <p:nvPr/>
        </p:nvPicPr>
        <p:blipFill>
          <a:blip r:embed="rId1"/>
          <a:stretch>
            <a:fillRect/>
          </a:stretch>
        </p:blipFill>
        <p:spPr>
          <a:xfrm>
            <a:off x="548640" y="1600200"/>
            <a:ext cx="6949440" cy="3200400"/>
          </a:xfrm>
          <a:prstGeom prst="rect">
            <a:avLst/>
          </a:prstGeom>
        </p:spPr>
      </p:pic>
      <p:sp>
        <p:nvSpPr>
          <p:cNvPr id="5" name="Shape 2"/>
          <p:cNvSpPr/>
          <p:nvPr/>
        </p:nvSpPr>
        <p:spPr>
          <a:xfrm>
            <a:off x="7772400" y="1600200"/>
            <a:ext cx="3840480" cy="3200400"/>
          </a:xfrm>
          <a:prstGeom prst="roundRect">
            <a:avLst>
              <a:gd name="adj" fmla="val 2286"/>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8092440" y="1828800"/>
            <a:ext cx="3200400" cy="32004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How to read it</a:t>
            </a:r>
            <a:endParaRPr lang="en-US" sz="1600" dirty="0"/>
          </a:p>
        </p:txBody>
      </p:sp>
      <p:sp>
        <p:nvSpPr>
          <p:cNvPr id="7" name="Text 4"/>
          <p:cNvSpPr txBox="1"/>
          <p:nvPr/>
        </p:nvSpPr>
        <p:spPr>
          <a:xfrm>
            <a:off x="8092440" y="2240280"/>
            <a:ext cx="3200400" cy="237744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Every customer starts at the bottom as their own cluster. Going up, the closest pairs merge. Height = how far apart the merged groups were.</a:t>
            </a:r>
            <a:endParaRPr lang="en-US" sz="1300" dirty="0"/>
          </a:p>
          <a:p>
            <a:pPr indent="0" marL="0">
              <a:lnSpc>
                <a:spcPts val="1800"/>
              </a:lnSpc>
              <a:buNone/>
            </a:pPr>
            <a:endParaRPr lang="en-US" sz="1300" dirty="0"/>
          </a:p>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A tall vertical line means two very different groups were forced together — so we cut below it.</a:t>
            </a:r>
            <a:endParaRPr lang="en-US" sz="1300" dirty="0"/>
          </a:p>
        </p:txBody>
      </p:sp>
      <p:sp>
        <p:nvSpPr>
          <p:cNvPr id="8" name="Shape 5"/>
          <p:cNvSpPr/>
          <p:nvPr/>
        </p:nvSpPr>
        <p:spPr>
          <a:xfrm>
            <a:off x="548640" y="4983480"/>
            <a:ext cx="11064240" cy="1234440"/>
          </a:xfrm>
          <a:prstGeom prst="roundRect">
            <a:avLst>
              <a:gd name="adj" fmla="val 5926"/>
            </a:avLst>
          </a:prstGeom>
          <a:solidFill>
            <a:srgbClr val="07393C"/>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9" name="Text 6"/>
          <p:cNvSpPr txBox="1"/>
          <p:nvPr/>
        </p:nvSpPr>
        <p:spPr>
          <a:xfrm>
            <a:off x="914400" y="5193792"/>
            <a:ext cx="6858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All three methods independently agree on k = 5</a:t>
            </a:r>
            <a:endParaRPr lang="en-US" sz="2000" dirty="0"/>
          </a:p>
        </p:txBody>
      </p:sp>
      <p:sp>
        <p:nvSpPr>
          <p:cNvPr id="10" name="Text 7"/>
          <p:cNvSpPr txBox="1"/>
          <p:nvPr/>
        </p:nvSpPr>
        <p:spPr>
          <a:xfrm>
            <a:off x="914400" y="5596128"/>
            <a:ext cx="10332720" cy="365760"/>
          </a:xfrm>
          <a:prstGeom prst="rect">
            <a:avLst/>
          </a:prstGeom>
          <a:noFill/>
          <a:ln/>
        </p:spPr>
        <p:txBody>
          <a:bodyPr wrap="square" lIns="0" tIns="0" rIns="0" bIns="0" rtlCol="0" anchor="ctr"/>
          <a:lstStyle/>
          <a:p>
            <a:pPr indent="0" marL="0">
              <a:buNone/>
            </a:pPr>
            <a:r>
              <a:rPr lang="en-US" sz="1300" dirty="0">
                <a:solidFill>
                  <a:srgbClr val="BFD8D8"/>
                </a:solidFill>
                <a:latin typeface="Calibri" pitchFamily="34" charset="0"/>
                <a:ea typeface="Calibri" pitchFamily="34" charset="-122"/>
                <a:cs typeface="Calibri" pitchFamily="34" charset="-120"/>
              </a:rPr>
              <a:t>Elbow (bend at 5)   ·   Silhouette (peak at 5)   ·   Dendrogram (longest gap cuts into 5)   ·   And we saw 5 blobs by eye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3 — Algorithm 1: K-Means</a:t>
            </a:r>
            <a:endParaRPr lang="en-US" sz="3200" dirty="0"/>
          </a:p>
        </p:txBody>
      </p:sp>
      <p:sp>
        <p:nvSpPr>
          <p:cNvPr id="4" name="Shape 2"/>
          <p:cNvSpPr/>
          <p:nvPr/>
        </p:nvSpPr>
        <p:spPr>
          <a:xfrm>
            <a:off x="548640" y="1691640"/>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Shape 3"/>
          <p:cNvSpPr/>
          <p:nvPr/>
        </p:nvSpPr>
        <p:spPr>
          <a:xfrm>
            <a:off x="777240" y="1929384"/>
            <a:ext cx="402336" cy="402336"/>
          </a:xfrm>
          <a:prstGeom prst="ellipse">
            <a:avLst/>
          </a:prstGeom>
          <a:solidFill>
            <a:srgbClr val="028090"/>
          </a:solidFill>
          <a:ln/>
        </p:spPr>
      </p:sp>
      <p:sp>
        <p:nvSpPr>
          <p:cNvPr id="6" name="Text 4"/>
          <p:cNvSpPr txBox="1"/>
          <p:nvPr/>
        </p:nvSpPr>
        <p:spPr>
          <a:xfrm>
            <a:off x="777240" y="19293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25880" y="1819656"/>
            <a:ext cx="228600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Place k centroids</a:t>
            </a:r>
            <a:endParaRPr lang="en-US" sz="1450" dirty="0"/>
          </a:p>
        </p:txBody>
      </p:sp>
      <p:sp>
        <p:nvSpPr>
          <p:cNvPr id="8" name="Text 6"/>
          <p:cNvSpPr txBox="1"/>
          <p:nvPr/>
        </p:nvSpPr>
        <p:spPr>
          <a:xfrm>
            <a:off x="1325880" y="2121408"/>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Drop 5 starting points into the data at random.</a:t>
            </a:r>
            <a:endParaRPr lang="en-US" sz="1250" dirty="0"/>
          </a:p>
        </p:txBody>
      </p:sp>
      <p:sp>
        <p:nvSpPr>
          <p:cNvPr id="9" name="Shape 7"/>
          <p:cNvSpPr/>
          <p:nvPr/>
        </p:nvSpPr>
        <p:spPr>
          <a:xfrm>
            <a:off x="548640" y="2679192"/>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0" name="Shape 8"/>
          <p:cNvSpPr/>
          <p:nvPr/>
        </p:nvSpPr>
        <p:spPr>
          <a:xfrm>
            <a:off x="777240" y="2916936"/>
            <a:ext cx="402336" cy="402336"/>
          </a:xfrm>
          <a:prstGeom prst="ellipse">
            <a:avLst/>
          </a:prstGeom>
          <a:solidFill>
            <a:srgbClr val="028090"/>
          </a:solidFill>
          <a:ln/>
        </p:spPr>
      </p:sp>
      <p:sp>
        <p:nvSpPr>
          <p:cNvPr id="11" name="Text 9"/>
          <p:cNvSpPr txBox="1"/>
          <p:nvPr/>
        </p:nvSpPr>
        <p:spPr>
          <a:xfrm>
            <a:off x="777240" y="29169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325880" y="2807208"/>
            <a:ext cx="228600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Assign each customer</a:t>
            </a:r>
            <a:endParaRPr lang="en-US" sz="1450" dirty="0"/>
          </a:p>
        </p:txBody>
      </p:sp>
      <p:sp>
        <p:nvSpPr>
          <p:cNvPr id="13" name="Text 11"/>
          <p:cNvSpPr txBox="1"/>
          <p:nvPr/>
        </p:nvSpPr>
        <p:spPr>
          <a:xfrm>
            <a:off x="1325880" y="3108960"/>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Every customer joins whichever centroid is nearest.</a:t>
            </a:r>
            <a:endParaRPr lang="en-US" sz="1250" dirty="0"/>
          </a:p>
        </p:txBody>
      </p:sp>
      <p:sp>
        <p:nvSpPr>
          <p:cNvPr id="14" name="Shape 12"/>
          <p:cNvSpPr/>
          <p:nvPr/>
        </p:nvSpPr>
        <p:spPr>
          <a:xfrm>
            <a:off x="548640" y="3666744"/>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5" name="Shape 13"/>
          <p:cNvSpPr/>
          <p:nvPr/>
        </p:nvSpPr>
        <p:spPr>
          <a:xfrm>
            <a:off x="777240" y="3904488"/>
            <a:ext cx="402336" cy="402336"/>
          </a:xfrm>
          <a:prstGeom prst="ellipse">
            <a:avLst/>
          </a:prstGeom>
          <a:solidFill>
            <a:srgbClr val="028090"/>
          </a:solidFill>
          <a:ln/>
        </p:spPr>
      </p:sp>
      <p:sp>
        <p:nvSpPr>
          <p:cNvPr id="16" name="Text 14"/>
          <p:cNvSpPr txBox="1"/>
          <p:nvPr/>
        </p:nvSpPr>
        <p:spPr>
          <a:xfrm>
            <a:off x="777240"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325880" y="3794760"/>
            <a:ext cx="228600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Move the centroids</a:t>
            </a:r>
            <a:endParaRPr lang="en-US" sz="1450" dirty="0"/>
          </a:p>
        </p:txBody>
      </p:sp>
      <p:sp>
        <p:nvSpPr>
          <p:cNvPr id="18" name="Text 16"/>
          <p:cNvSpPr txBox="1"/>
          <p:nvPr/>
        </p:nvSpPr>
        <p:spPr>
          <a:xfrm>
            <a:off x="1325880" y="4096512"/>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Each centroid slides to the middle of the customers that joined it.</a:t>
            </a:r>
            <a:endParaRPr lang="en-US" sz="1250" dirty="0"/>
          </a:p>
        </p:txBody>
      </p:sp>
      <p:sp>
        <p:nvSpPr>
          <p:cNvPr id="19" name="Shape 17"/>
          <p:cNvSpPr/>
          <p:nvPr/>
        </p:nvSpPr>
        <p:spPr>
          <a:xfrm>
            <a:off x="548640" y="4654296"/>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0" name="Shape 18"/>
          <p:cNvSpPr/>
          <p:nvPr/>
        </p:nvSpPr>
        <p:spPr>
          <a:xfrm>
            <a:off x="777240" y="4892040"/>
            <a:ext cx="402336" cy="402336"/>
          </a:xfrm>
          <a:prstGeom prst="ellipse">
            <a:avLst/>
          </a:prstGeom>
          <a:solidFill>
            <a:srgbClr val="028090"/>
          </a:solidFill>
          <a:ln/>
        </p:spPr>
      </p:sp>
      <p:sp>
        <p:nvSpPr>
          <p:cNvPr id="21" name="Text 19"/>
          <p:cNvSpPr txBox="1"/>
          <p:nvPr/>
        </p:nvSpPr>
        <p:spPr>
          <a:xfrm>
            <a:off x="777240" y="4892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325880" y="4782312"/>
            <a:ext cx="228600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Repeat until settled</a:t>
            </a:r>
            <a:endParaRPr lang="en-US" sz="1450" dirty="0"/>
          </a:p>
        </p:txBody>
      </p:sp>
      <p:sp>
        <p:nvSpPr>
          <p:cNvPr id="23" name="Text 21"/>
          <p:cNvSpPr txBox="1"/>
          <p:nvPr/>
        </p:nvSpPr>
        <p:spPr>
          <a:xfrm>
            <a:off x="1325880" y="5084064"/>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Keep going until nobody changes group. That is the final answer.</a:t>
            </a:r>
            <a:endParaRPr lang="en-US" sz="1250" dirty="0"/>
          </a:p>
        </p:txBody>
      </p:sp>
      <p:sp>
        <p:nvSpPr>
          <p:cNvPr id="24" name="Shape 22"/>
          <p:cNvSpPr/>
          <p:nvPr/>
        </p:nvSpPr>
        <p:spPr>
          <a:xfrm>
            <a:off x="7635240" y="1691640"/>
            <a:ext cx="3977640" cy="3822192"/>
          </a:xfrm>
          <a:prstGeom prst="roundRect">
            <a:avLst>
              <a:gd name="adj" fmla="val 1914"/>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5" name="Text 23"/>
          <p:cNvSpPr txBox="1"/>
          <p:nvPr/>
        </p:nvSpPr>
        <p:spPr>
          <a:xfrm>
            <a:off x="7955280" y="1938528"/>
            <a:ext cx="3337560" cy="32004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Why it fits this data</a:t>
            </a:r>
            <a:endParaRPr lang="en-US" sz="1500" dirty="0"/>
          </a:p>
        </p:txBody>
      </p:sp>
      <p:sp>
        <p:nvSpPr>
          <p:cNvPr id="26" name="Text 24"/>
          <p:cNvSpPr txBox="1"/>
          <p:nvPr/>
        </p:nvSpPr>
        <p:spPr>
          <a:xfrm>
            <a:off x="7955280" y="2331720"/>
            <a:ext cx="3337560" cy="128016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K-Means can only find round, similarly-sized clusters. Our EDA showed exactly that shape, so it is a good match here rather than a default choice.</a:t>
            </a:r>
            <a:endParaRPr lang="en-US" sz="1300" dirty="0"/>
          </a:p>
        </p:txBody>
      </p:sp>
      <p:sp>
        <p:nvSpPr>
          <p:cNvPr id="27" name="Text 25"/>
          <p:cNvSpPr txBox="1"/>
          <p:nvPr/>
        </p:nvSpPr>
        <p:spPr>
          <a:xfrm>
            <a:off x="7955280" y="3703320"/>
            <a:ext cx="333756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One thing to watch</a:t>
            </a:r>
            <a:endParaRPr lang="en-US" sz="1400" dirty="0"/>
          </a:p>
        </p:txBody>
      </p:sp>
      <p:sp>
        <p:nvSpPr>
          <p:cNvPr id="28" name="Text 26"/>
          <p:cNvSpPr txBox="1"/>
          <p:nvPr/>
        </p:nvSpPr>
        <p:spPr>
          <a:xfrm>
            <a:off x="7955280" y="4041648"/>
            <a:ext cx="3337560" cy="132588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Step 1 is random, so different starting points can give slightly different answers. We set random_state = 42 and n_init = 10 so the result is repeatable.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3 — Algorithm 2: Hierarchical</a:t>
            </a:r>
            <a:endParaRPr lang="en-US" sz="3200" dirty="0"/>
          </a:p>
        </p:txBody>
      </p:sp>
      <p:sp>
        <p:nvSpPr>
          <p:cNvPr id="4" name="Shape 2"/>
          <p:cNvSpPr/>
          <p:nvPr/>
        </p:nvSpPr>
        <p:spPr>
          <a:xfrm>
            <a:off x="548640" y="1691640"/>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Shape 3"/>
          <p:cNvSpPr/>
          <p:nvPr/>
        </p:nvSpPr>
        <p:spPr>
          <a:xfrm>
            <a:off x="777240" y="1929384"/>
            <a:ext cx="402336" cy="402336"/>
          </a:xfrm>
          <a:prstGeom prst="ellipse">
            <a:avLst/>
          </a:prstGeom>
          <a:solidFill>
            <a:srgbClr val="00A896"/>
          </a:solidFill>
          <a:ln/>
        </p:spPr>
      </p:sp>
      <p:sp>
        <p:nvSpPr>
          <p:cNvPr id="6" name="Text 4"/>
          <p:cNvSpPr txBox="1"/>
          <p:nvPr/>
        </p:nvSpPr>
        <p:spPr>
          <a:xfrm>
            <a:off x="777240" y="19293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25880" y="1819656"/>
            <a:ext cx="237744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Everyone alone</a:t>
            </a:r>
            <a:endParaRPr lang="en-US" sz="1450" dirty="0"/>
          </a:p>
        </p:txBody>
      </p:sp>
      <p:sp>
        <p:nvSpPr>
          <p:cNvPr id="8" name="Text 6"/>
          <p:cNvSpPr txBox="1"/>
          <p:nvPr/>
        </p:nvSpPr>
        <p:spPr>
          <a:xfrm>
            <a:off x="1325880" y="2121408"/>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Start with 200 clusters — one per customer.</a:t>
            </a:r>
            <a:endParaRPr lang="en-US" sz="1250" dirty="0"/>
          </a:p>
        </p:txBody>
      </p:sp>
      <p:sp>
        <p:nvSpPr>
          <p:cNvPr id="9" name="Shape 7"/>
          <p:cNvSpPr/>
          <p:nvPr/>
        </p:nvSpPr>
        <p:spPr>
          <a:xfrm>
            <a:off x="548640" y="2679192"/>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0" name="Shape 8"/>
          <p:cNvSpPr/>
          <p:nvPr/>
        </p:nvSpPr>
        <p:spPr>
          <a:xfrm>
            <a:off x="777240" y="2916936"/>
            <a:ext cx="402336" cy="402336"/>
          </a:xfrm>
          <a:prstGeom prst="ellipse">
            <a:avLst/>
          </a:prstGeom>
          <a:solidFill>
            <a:srgbClr val="00A896"/>
          </a:solidFill>
          <a:ln/>
        </p:spPr>
      </p:sp>
      <p:sp>
        <p:nvSpPr>
          <p:cNvPr id="11" name="Text 9"/>
          <p:cNvSpPr txBox="1"/>
          <p:nvPr/>
        </p:nvSpPr>
        <p:spPr>
          <a:xfrm>
            <a:off x="777240" y="29169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325880" y="2807208"/>
            <a:ext cx="237744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Merge the closest two</a:t>
            </a:r>
            <a:endParaRPr lang="en-US" sz="1450" dirty="0"/>
          </a:p>
        </p:txBody>
      </p:sp>
      <p:sp>
        <p:nvSpPr>
          <p:cNvPr id="13" name="Text 11"/>
          <p:cNvSpPr txBox="1"/>
          <p:nvPr/>
        </p:nvSpPr>
        <p:spPr>
          <a:xfrm>
            <a:off x="1325880" y="3108960"/>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Find the two nearest clusters and join them into one.</a:t>
            </a:r>
            <a:endParaRPr lang="en-US" sz="1250" dirty="0"/>
          </a:p>
        </p:txBody>
      </p:sp>
      <p:sp>
        <p:nvSpPr>
          <p:cNvPr id="14" name="Shape 12"/>
          <p:cNvSpPr/>
          <p:nvPr/>
        </p:nvSpPr>
        <p:spPr>
          <a:xfrm>
            <a:off x="548640" y="3666744"/>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5" name="Shape 13"/>
          <p:cNvSpPr/>
          <p:nvPr/>
        </p:nvSpPr>
        <p:spPr>
          <a:xfrm>
            <a:off x="777240" y="3904488"/>
            <a:ext cx="402336" cy="402336"/>
          </a:xfrm>
          <a:prstGeom prst="ellipse">
            <a:avLst/>
          </a:prstGeom>
          <a:solidFill>
            <a:srgbClr val="00A896"/>
          </a:solidFill>
          <a:ln/>
        </p:spPr>
      </p:sp>
      <p:sp>
        <p:nvSpPr>
          <p:cNvPr id="16" name="Text 14"/>
          <p:cNvSpPr txBox="1"/>
          <p:nvPr/>
        </p:nvSpPr>
        <p:spPr>
          <a:xfrm>
            <a:off x="777240" y="39044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325880" y="3794760"/>
            <a:ext cx="237744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Repeat</a:t>
            </a:r>
            <a:endParaRPr lang="en-US" sz="1450" dirty="0"/>
          </a:p>
        </p:txBody>
      </p:sp>
      <p:sp>
        <p:nvSpPr>
          <p:cNvPr id="18" name="Text 16"/>
          <p:cNvSpPr txBox="1"/>
          <p:nvPr/>
        </p:nvSpPr>
        <p:spPr>
          <a:xfrm>
            <a:off x="1325880" y="4096512"/>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Keep merging. 200 becomes 199, then 198, and so on.</a:t>
            </a:r>
            <a:endParaRPr lang="en-US" sz="1250" dirty="0"/>
          </a:p>
        </p:txBody>
      </p:sp>
      <p:sp>
        <p:nvSpPr>
          <p:cNvPr id="19" name="Shape 17"/>
          <p:cNvSpPr/>
          <p:nvPr/>
        </p:nvSpPr>
        <p:spPr>
          <a:xfrm>
            <a:off x="548640" y="4654296"/>
            <a:ext cx="6766560" cy="868680"/>
          </a:xfrm>
          <a:prstGeom prst="roundRect">
            <a:avLst>
              <a:gd name="adj" fmla="val 8421"/>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0" name="Shape 18"/>
          <p:cNvSpPr/>
          <p:nvPr/>
        </p:nvSpPr>
        <p:spPr>
          <a:xfrm>
            <a:off x="777240" y="4892040"/>
            <a:ext cx="402336" cy="402336"/>
          </a:xfrm>
          <a:prstGeom prst="ellipse">
            <a:avLst/>
          </a:prstGeom>
          <a:solidFill>
            <a:srgbClr val="00A896"/>
          </a:solidFill>
          <a:ln/>
        </p:spPr>
      </p:sp>
      <p:sp>
        <p:nvSpPr>
          <p:cNvPr id="21" name="Text 19"/>
          <p:cNvSpPr txBox="1"/>
          <p:nvPr/>
        </p:nvSpPr>
        <p:spPr>
          <a:xfrm>
            <a:off x="777240" y="4892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325880" y="4782312"/>
            <a:ext cx="2377440" cy="292608"/>
          </a:xfrm>
          <a:prstGeom prst="rect">
            <a:avLst/>
          </a:prstGeom>
          <a:noFill/>
          <a:ln/>
        </p:spPr>
        <p:txBody>
          <a:bodyPr wrap="square" lIns="0" tIns="0" rIns="0" bIns="0" rtlCol="0" anchor="ctr"/>
          <a:lstStyle/>
          <a:p>
            <a:pPr indent="0" marL="0">
              <a:buNone/>
            </a:pPr>
            <a:r>
              <a:rPr lang="en-US" sz="1450" b="1" dirty="0">
                <a:solidFill>
                  <a:srgbClr val="07393C"/>
                </a:solidFill>
                <a:latin typeface="Calibri" pitchFamily="34" charset="0"/>
                <a:ea typeface="Calibri" pitchFamily="34" charset="-122"/>
                <a:cs typeface="Calibri" pitchFamily="34" charset="-120"/>
              </a:rPr>
              <a:t>Stop at k</a:t>
            </a:r>
            <a:endParaRPr lang="en-US" sz="1450" dirty="0"/>
          </a:p>
        </p:txBody>
      </p:sp>
      <p:sp>
        <p:nvSpPr>
          <p:cNvPr id="23" name="Text 21"/>
          <p:cNvSpPr txBox="1"/>
          <p:nvPr/>
        </p:nvSpPr>
        <p:spPr>
          <a:xfrm>
            <a:off x="1325880" y="5084064"/>
            <a:ext cx="5760720" cy="365760"/>
          </a:xfrm>
          <a:prstGeom prst="rect">
            <a:avLst/>
          </a:prstGeom>
          <a:noFill/>
          <a:ln/>
        </p:spPr>
        <p:txBody>
          <a:bodyPr wrap="square" lIns="0" tIns="0" rIns="0" bIns="0" rtlCol="0" anchor="ctr"/>
          <a:lstStyle/>
          <a:p>
            <a:pPr indent="0" marL="0">
              <a:buNone/>
            </a:pPr>
            <a:r>
              <a:rPr lang="en-US" sz="1250" dirty="0">
                <a:solidFill>
                  <a:srgbClr val="16262E"/>
                </a:solidFill>
                <a:latin typeface="Calibri" pitchFamily="34" charset="0"/>
                <a:ea typeface="Calibri" pitchFamily="34" charset="-122"/>
                <a:cs typeface="Calibri" pitchFamily="34" charset="-120"/>
              </a:rPr>
              <a:t>Stop when 5 clusters remain. No randomness anywhere.</a:t>
            </a:r>
            <a:endParaRPr lang="en-US" sz="1250" dirty="0"/>
          </a:p>
        </p:txBody>
      </p:sp>
      <p:sp>
        <p:nvSpPr>
          <p:cNvPr id="24" name="Shape 22"/>
          <p:cNvSpPr/>
          <p:nvPr/>
        </p:nvSpPr>
        <p:spPr>
          <a:xfrm>
            <a:off x="7635240" y="1691640"/>
            <a:ext cx="3977640" cy="3822192"/>
          </a:xfrm>
          <a:prstGeom prst="roundRect">
            <a:avLst>
              <a:gd name="adj" fmla="val 1914"/>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5" name="Text 23"/>
          <p:cNvSpPr txBox="1"/>
          <p:nvPr/>
        </p:nvSpPr>
        <p:spPr>
          <a:xfrm>
            <a:off x="7955280" y="1938528"/>
            <a:ext cx="3337560" cy="32004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Why we chose this one</a:t>
            </a:r>
            <a:endParaRPr lang="en-US" sz="1500" dirty="0"/>
          </a:p>
        </p:txBody>
      </p:sp>
      <p:sp>
        <p:nvSpPr>
          <p:cNvPr id="26" name="Text 24"/>
          <p:cNvSpPr txBox="1"/>
          <p:nvPr/>
        </p:nvSpPr>
        <p:spPr>
          <a:xfrm>
            <a:off x="7955280" y="2331720"/>
            <a:ext cx="3337560" cy="109728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It works on a completely different principle from K-Means — merging from the bottom up instead of moving centroids around.</a:t>
            </a:r>
            <a:endParaRPr lang="en-US" sz="1300" dirty="0"/>
          </a:p>
        </p:txBody>
      </p:sp>
      <p:sp>
        <p:nvSpPr>
          <p:cNvPr id="27" name="Text 25"/>
          <p:cNvSpPr txBox="1"/>
          <p:nvPr/>
        </p:nvSpPr>
        <p:spPr>
          <a:xfrm>
            <a:off x="7955280" y="3520440"/>
            <a:ext cx="3337560" cy="1280160"/>
          </a:xfrm>
          <a:prstGeom prst="rect">
            <a:avLst/>
          </a:prstGeom>
          <a:noFill/>
          <a:ln/>
        </p:spPr>
        <p:txBody>
          <a:bodyPr wrap="square" lIns="0" tIns="0" rIns="0" bIns="0" rtlCol="0" anchor="ctr"/>
          <a:lstStyle/>
          <a:p>
            <a:pPr indent="0" marL="0">
              <a:lnSpc>
                <a:spcPts val="1800"/>
              </a:lnSpc>
              <a:buNone/>
            </a:pPr>
            <a:r>
              <a:rPr lang="en-US" sz="1300" dirty="0">
                <a:solidFill>
                  <a:srgbClr val="16262E"/>
                </a:solidFill>
                <a:latin typeface="Calibri" pitchFamily="34" charset="0"/>
                <a:ea typeface="Calibri" pitchFamily="34" charset="-122"/>
                <a:cs typeface="Calibri" pitchFamily="34" charset="-120"/>
              </a:rPr>
              <a:t>That difference is the point: if two unrelated methods land on the same groups, the groups are probably real and not an artefact of one algorithm.</a:t>
            </a:r>
            <a:endParaRPr lang="en-US" sz="1300" dirty="0"/>
          </a:p>
        </p:txBody>
      </p:sp>
      <p:sp>
        <p:nvSpPr>
          <p:cNvPr id="28" name="Text 26"/>
          <p:cNvSpPr txBox="1"/>
          <p:nvPr/>
        </p:nvSpPr>
        <p:spPr>
          <a:xfrm>
            <a:off x="7955280" y="4846320"/>
            <a:ext cx="3337560" cy="548640"/>
          </a:xfrm>
          <a:prstGeom prst="rect">
            <a:avLst/>
          </a:prstGeom>
          <a:noFill/>
          <a:ln/>
        </p:spPr>
        <p:txBody>
          <a:bodyPr wrap="square" lIns="0" tIns="0" rIns="0" bIns="0" rtlCol="0" anchor="ctr"/>
          <a:lstStyle/>
          <a:p>
            <a:pPr indent="0" marL="0">
              <a:lnSpc>
                <a:spcPts val="1700"/>
              </a:lnSpc>
              <a:buNone/>
            </a:pPr>
            <a:r>
              <a:rPr lang="en-US" sz="1250" i="1" dirty="0">
                <a:solidFill>
                  <a:srgbClr val="5C7A7D"/>
                </a:solidFill>
                <a:latin typeface="Calibri" pitchFamily="34" charset="0"/>
                <a:ea typeface="Calibri" pitchFamily="34" charset="-122"/>
                <a:cs typeface="Calibri" pitchFamily="34" charset="-120"/>
              </a:rPr>
              <a:t>It also produced the dendrogram we used on the previous slide.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DO THEY AGREE?</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3 — Comparing the Two Algorithms</a:t>
            </a:r>
            <a:endParaRPr lang="en-US" sz="3200" dirty="0"/>
          </a:p>
        </p:txBody>
      </p:sp>
      <p:pic>
        <p:nvPicPr>
          <p:cNvPr id="4" name="Image 0" descr="/home/claude/simple/fig5_comparison.png">    </p:cNvPr>
          <p:cNvPicPr>
            <a:picLocks noChangeAspect="1"/>
          </p:cNvPicPr>
          <p:nvPr/>
        </p:nvPicPr>
        <p:blipFill>
          <a:blip r:embed="rId1"/>
          <a:stretch>
            <a:fillRect/>
          </a:stretch>
        </p:blipFill>
        <p:spPr>
          <a:xfrm>
            <a:off x="685800" y="1554480"/>
            <a:ext cx="10789920" cy="3657600"/>
          </a:xfrm>
          <a:prstGeom prst="rect">
            <a:avLst/>
          </a:prstGeom>
        </p:spPr>
      </p:pic>
      <p:sp>
        <p:nvSpPr>
          <p:cNvPr id="5" name="Shape 2"/>
          <p:cNvSpPr/>
          <p:nvPr/>
        </p:nvSpPr>
        <p:spPr>
          <a:xfrm>
            <a:off x="685800" y="5349240"/>
            <a:ext cx="2560320" cy="960120"/>
          </a:xfrm>
          <a:prstGeom prst="roundRect">
            <a:avLst>
              <a:gd name="adj" fmla="val 7619"/>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914400" y="5468112"/>
            <a:ext cx="2103120" cy="256032"/>
          </a:xfrm>
          <a:prstGeom prst="rect">
            <a:avLst/>
          </a:prstGeom>
          <a:noFill/>
          <a:ln/>
        </p:spPr>
        <p:txBody>
          <a:bodyPr wrap="square" lIns="0" tIns="0" rIns="0" bIns="0" rtlCol="0" anchor="ctr"/>
          <a:lstStyle/>
          <a:p>
            <a:pPr indent="0" marL="0">
              <a:buNone/>
            </a:pPr>
            <a:r>
              <a:rPr lang="en-US" sz="1200" dirty="0">
                <a:solidFill>
                  <a:srgbClr val="5C7A7D"/>
                </a:solidFill>
                <a:latin typeface="Calibri" pitchFamily="34" charset="0"/>
                <a:ea typeface="Calibri" pitchFamily="34" charset="-122"/>
                <a:cs typeface="Calibri" pitchFamily="34" charset="-120"/>
              </a:rPr>
              <a:t>K-Means</a:t>
            </a:r>
            <a:endParaRPr lang="en-US" sz="1200" dirty="0"/>
          </a:p>
        </p:txBody>
      </p:sp>
      <p:sp>
        <p:nvSpPr>
          <p:cNvPr id="7" name="Text 4"/>
          <p:cNvSpPr txBox="1"/>
          <p:nvPr/>
        </p:nvSpPr>
        <p:spPr>
          <a:xfrm>
            <a:off x="914400" y="5724144"/>
            <a:ext cx="2103120" cy="411480"/>
          </a:xfrm>
          <a:prstGeom prst="rect">
            <a:avLst/>
          </a:prstGeom>
          <a:noFill/>
          <a:ln/>
        </p:spPr>
        <p:txBody>
          <a:bodyPr wrap="square" lIns="0" tIns="0" rIns="0" bIns="0"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0.5547  silhouette</a:t>
            </a:r>
            <a:endParaRPr lang="en-US" sz="1700" dirty="0"/>
          </a:p>
        </p:txBody>
      </p:sp>
      <p:sp>
        <p:nvSpPr>
          <p:cNvPr id="8" name="Shape 5"/>
          <p:cNvSpPr/>
          <p:nvPr/>
        </p:nvSpPr>
        <p:spPr>
          <a:xfrm>
            <a:off x="3429000" y="5349240"/>
            <a:ext cx="2560320" cy="960120"/>
          </a:xfrm>
          <a:prstGeom prst="roundRect">
            <a:avLst>
              <a:gd name="adj" fmla="val 7619"/>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9" name="Text 6"/>
          <p:cNvSpPr txBox="1"/>
          <p:nvPr/>
        </p:nvSpPr>
        <p:spPr>
          <a:xfrm>
            <a:off x="3657600" y="5468112"/>
            <a:ext cx="2103120" cy="256032"/>
          </a:xfrm>
          <a:prstGeom prst="rect">
            <a:avLst/>
          </a:prstGeom>
          <a:noFill/>
          <a:ln/>
        </p:spPr>
        <p:txBody>
          <a:bodyPr wrap="square" lIns="0" tIns="0" rIns="0" bIns="0" rtlCol="0" anchor="ctr"/>
          <a:lstStyle/>
          <a:p>
            <a:pPr indent="0" marL="0">
              <a:buNone/>
            </a:pPr>
            <a:r>
              <a:rPr lang="en-US" sz="1200" dirty="0">
                <a:solidFill>
                  <a:srgbClr val="5C7A7D"/>
                </a:solidFill>
                <a:latin typeface="Calibri" pitchFamily="34" charset="0"/>
                <a:ea typeface="Calibri" pitchFamily="34" charset="-122"/>
                <a:cs typeface="Calibri" pitchFamily="34" charset="-120"/>
              </a:rPr>
              <a:t>Hierarchical</a:t>
            </a:r>
            <a:endParaRPr lang="en-US" sz="1200" dirty="0"/>
          </a:p>
        </p:txBody>
      </p:sp>
      <p:sp>
        <p:nvSpPr>
          <p:cNvPr id="10" name="Text 7"/>
          <p:cNvSpPr txBox="1"/>
          <p:nvPr/>
        </p:nvSpPr>
        <p:spPr>
          <a:xfrm>
            <a:off x="3657600" y="5724144"/>
            <a:ext cx="2103120" cy="411480"/>
          </a:xfrm>
          <a:prstGeom prst="rect">
            <a:avLst/>
          </a:prstGeom>
          <a:noFill/>
          <a:ln/>
        </p:spPr>
        <p:txBody>
          <a:bodyPr wrap="square" lIns="0" tIns="0" rIns="0" bIns="0" rtlCol="0" anchor="ctr"/>
          <a:lstStyle/>
          <a:p>
            <a:pPr indent="0" marL="0">
              <a:buNone/>
            </a:pPr>
            <a:r>
              <a:rPr lang="en-US" sz="1700" b="1" dirty="0">
                <a:solidFill>
                  <a:srgbClr val="00A896"/>
                </a:solidFill>
                <a:latin typeface="Cambria" pitchFamily="34" charset="0"/>
                <a:ea typeface="Cambria" pitchFamily="34" charset="-122"/>
                <a:cs typeface="Cambria" pitchFamily="34" charset="-120"/>
              </a:rPr>
              <a:t>0.5538  silhouette</a:t>
            </a:r>
            <a:endParaRPr lang="en-US" sz="1700" dirty="0"/>
          </a:p>
        </p:txBody>
      </p:sp>
      <p:sp>
        <p:nvSpPr>
          <p:cNvPr id="11" name="Shape 8"/>
          <p:cNvSpPr/>
          <p:nvPr/>
        </p:nvSpPr>
        <p:spPr>
          <a:xfrm>
            <a:off x="6309360" y="5349240"/>
            <a:ext cx="5166360" cy="960120"/>
          </a:xfrm>
          <a:prstGeom prst="roundRect">
            <a:avLst>
              <a:gd name="adj" fmla="val 7619"/>
            </a:avLst>
          </a:prstGeom>
          <a:solidFill>
            <a:srgbClr val="07393C"/>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2" name="Text 9"/>
          <p:cNvSpPr txBox="1"/>
          <p:nvPr/>
        </p:nvSpPr>
        <p:spPr>
          <a:xfrm>
            <a:off x="6583680" y="5468112"/>
            <a:ext cx="4663440" cy="2743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Nearly identical results</a:t>
            </a:r>
            <a:endParaRPr lang="en-US" sz="1300" dirty="0"/>
          </a:p>
        </p:txBody>
      </p:sp>
      <p:sp>
        <p:nvSpPr>
          <p:cNvPr id="13" name="Text 10"/>
          <p:cNvSpPr txBox="1"/>
          <p:nvPr/>
        </p:nvSpPr>
        <p:spPr>
          <a:xfrm>
            <a:off x="6583680" y="5742432"/>
            <a:ext cx="4663440" cy="457200"/>
          </a:xfrm>
          <a:prstGeom prst="rect">
            <a:avLst/>
          </a:prstGeom>
          <a:noFill/>
          <a:ln/>
        </p:spPr>
        <p:txBody>
          <a:bodyPr wrap="square" lIns="0" tIns="0" rIns="0" bIns="0" rtlCol="0" anchor="ctr"/>
          <a:lstStyle/>
          <a:p>
            <a:pPr indent="0" marL="0">
              <a:lnSpc>
                <a:spcPts val="1500"/>
              </a:lnSpc>
              <a:buNone/>
            </a:pPr>
            <a:r>
              <a:rPr lang="en-US" sz="1150" dirty="0">
                <a:solidFill>
                  <a:srgbClr val="BFD8D8"/>
                </a:solidFill>
                <a:latin typeface="Calibri" pitchFamily="34" charset="0"/>
                <a:ea typeface="Calibri" pitchFamily="34" charset="-122"/>
                <a:cs typeface="Calibri" pitchFamily="34" charset="-120"/>
              </a:rPr>
              <a:t>Cluster sizes 22/23/35/39/81 vs 21/23/32/39/85 — about 8 borderline customers placed differently.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Step 4 — The Five Customer Segments</a:t>
            </a:r>
            <a:endParaRPr lang="en-US" sz="3200" dirty="0"/>
          </a:p>
        </p:txBody>
      </p:sp>
      <p:pic>
        <p:nvPicPr>
          <p:cNvPr id="4" name="Image 0" descr="/home/claude/simple/fig6_final_clusters.png">    </p:cNvPr>
          <p:cNvPicPr>
            <a:picLocks noChangeAspect="1"/>
          </p:cNvPicPr>
          <p:nvPr/>
        </p:nvPicPr>
        <p:blipFill>
          <a:blip r:embed="rId1"/>
          <a:stretch>
            <a:fillRect/>
          </a:stretch>
        </p:blipFill>
        <p:spPr>
          <a:xfrm>
            <a:off x="548640" y="1554480"/>
            <a:ext cx="5394960" cy="4114800"/>
          </a:xfrm>
          <a:prstGeom prst="rect">
            <a:avLst/>
          </a:prstGeom>
        </p:spPr>
      </p:pic>
      <p:sp>
        <p:nvSpPr>
          <p:cNvPr id="5" name="Shape 2"/>
          <p:cNvSpPr/>
          <p:nvPr/>
        </p:nvSpPr>
        <p:spPr>
          <a:xfrm>
            <a:off x="6217920" y="1554480"/>
            <a:ext cx="5394960" cy="4114800"/>
          </a:xfrm>
          <a:prstGeom prst="roundRect">
            <a:avLst>
              <a:gd name="adj" fmla="val 17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6" name="Text 3"/>
          <p:cNvSpPr txBox="1"/>
          <p:nvPr/>
        </p:nvSpPr>
        <p:spPr>
          <a:xfrm>
            <a:off x="6537960" y="1783080"/>
            <a:ext cx="4754880" cy="292608"/>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Who they are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37960" y="2194560"/>
          <a:ext cx="4754880" cy="914400"/>
        </p:xfrm>
        <a:graphic>
          <a:graphicData uri="http://schemas.openxmlformats.org/drawingml/2006/table">
            <a:tbl>
              <a:tblPr/>
              <a:tblGrid>
                <a:gridCol w="2240280"/>
                <a:gridCol w="658368"/>
                <a:gridCol w="941832"/>
                <a:gridCol w="9144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Income</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Spend</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028090"/>
                    </a:solidFill>
                  </a:tcPr>
                </a:tc>
              </a:tr>
              <a:tr h="384048">
                <a:tc>
                  <a:txBody>
                    <a:bodyPr/>
                    <a:lstStyle/>
                    <a:p>
                      <a:pPr indent="0" marL="0">
                        <a:buNone/>
                      </a:pPr>
                      <a:r>
                        <a:rPr lang="en-US" sz="1200" b="1" dirty="0">
                          <a:solidFill>
                            <a:srgbClr val="16262E"/>
                          </a:solidFill>
                          <a:latin typeface="Calibri" pitchFamily="34" charset="0"/>
                          <a:ea typeface="Calibri" pitchFamily="34" charset="-122"/>
                          <a:cs typeface="Calibri" pitchFamily="34" charset="-120"/>
                        </a:rPr>
                        <a:t>VIP / Target</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$86k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82</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6262E"/>
                          </a:solidFill>
                          <a:latin typeface="Calibri" pitchFamily="34" charset="0"/>
                          <a:ea typeface="Calibri" pitchFamily="34" charset="-122"/>
                          <a:cs typeface="Calibri" pitchFamily="34" charset="-120"/>
                        </a:rPr>
                        <a:t>Untapped High Earners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$88k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r>
              <a:tr h="384048">
                <a:tc>
                  <a:txBody>
                    <a:bodyPr/>
                    <a:lstStyle/>
                    <a:p>
                      <a:pPr indent="0" marL="0">
                        <a:buNone/>
                      </a:pPr>
                      <a:r>
                        <a:rPr lang="en-US" sz="1200" b="1" dirty="0">
                          <a:solidFill>
                            <a:srgbClr val="16262E"/>
                          </a:solidFill>
                          <a:latin typeface="Calibri" pitchFamily="34" charset="0"/>
                          <a:ea typeface="Calibri" pitchFamily="34" charset="-122"/>
                          <a:cs typeface="Calibri" pitchFamily="34" charset="-120"/>
                        </a:rPr>
                        <a:t>Young Big Spenders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$26k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79</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6262E"/>
                          </a:solidFill>
                          <a:latin typeface="Calibri" pitchFamily="34" charset="0"/>
                          <a:ea typeface="Calibri" pitchFamily="34" charset="-122"/>
                          <a:cs typeface="Calibri" pitchFamily="34" charset="-120"/>
                        </a:rPr>
                        <a:t>Budget Customers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$26k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4F8F8"/>
                    </a:solidFill>
                  </a:tcPr>
                </a:tc>
              </a:tr>
              <a:tr h="384048">
                <a:tc>
                  <a:txBody>
                    <a:bodyPr/>
                    <a:lstStyle/>
                    <a:p>
                      <a:pPr indent="0" marL="0">
                        <a:buNone/>
                      </a:pPr>
                      <a:r>
                        <a:rPr lang="en-US" sz="1200" b="1" dirty="0">
                          <a:solidFill>
                            <a:srgbClr val="16262E"/>
                          </a:solidFill>
                          <a:latin typeface="Calibri" pitchFamily="34" charset="0"/>
                          <a:ea typeface="Calibri" pitchFamily="34" charset="-122"/>
                          <a:cs typeface="Calibri" pitchFamily="34" charset="-120"/>
                        </a:rPr>
                        <a:t>Average Customers</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$55k</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2E"/>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12700" cap="flat" cmpd="sng" algn="ctr">
                      <a:solidFill>
                        <a:srgbClr val="E2EBEB"/>
                      </a:solidFill>
                      <a:prstDash val="solid"/>
                      <a:round/>
                      <a:headEnd type="none" w="med" len="med"/>
                      <a:tailEnd type="none" w="med" len="med"/>
                    </a:lnL>
                    <a:lnR w="12700" cap="flat" cmpd="sng" algn="ctr">
                      <a:solidFill>
                        <a:srgbClr val="E2EBEB"/>
                      </a:solidFill>
                      <a:prstDash val="solid"/>
                      <a:round/>
                      <a:headEnd type="none" w="med" len="med"/>
                      <a:tailEnd type="none" w="med" len="med"/>
                    </a:lnR>
                    <a:lnT w="12700" cap="flat" cmpd="sng" algn="ctr">
                      <a:solidFill>
                        <a:srgbClr val="E2EBEB"/>
                      </a:solidFill>
                      <a:prstDash val="solid"/>
                      <a:round/>
                      <a:headEnd type="none" w="med" len="med"/>
                      <a:tailEnd type="none" w="med" len="med"/>
                    </a:lnT>
                    <a:lnB w="12700" cap="flat" cmpd="sng" algn="ctr">
                      <a:solidFill>
                        <a:srgbClr val="E2EBEB"/>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537960" y="4709160"/>
            <a:ext cx="4754880" cy="411480"/>
          </a:xfrm>
          <a:prstGeom prst="rect">
            <a:avLst/>
          </a:prstGeom>
          <a:noFill/>
          <a:ln/>
        </p:spPr>
        <p:txBody>
          <a:bodyPr wrap="square" lIns="0" tIns="0" rIns="0" bIns="0" rtlCol="0" anchor="ctr"/>
          <a:lstStyle/>
          <a:p>
            <a:pPr indent="0" marL="0">
              <a:lnSpc>
                <a:spcPts val="1500"/>
              </a:lnSpc>
              <a:buNone/>
            </a:pPr>
            <a:r>
              <a:rPr lang="en-US" sz="1100" i="1" dirty="0">
                <a:solidFill>
                  <a:srgbClr val="5C7A7D"/>
                </a:solidFill>
                <a:latin typeface="Calibri" pitchFamily="34" charset="0"/>
                <a:ea typeface="Calibri" pitchFamily="34" charset="-122"/>
                <a:cs typeface="Calibri" pitchFamily="34" charset="-120"/>
              </a:rPr>
              <a:t>Income = average annual income (k$).  Spend = average spending score out of 100.</a:t>
            </a:r>
            <a:endParaRPr lang="en-US" sz="1100" dirty="0"/>
          </a:p>
        </p:txBody>
      </p:sp>
      <p:sp>
        <p:nvSpPr>
          <p:cNvPr id="9" name="Text 5"/>
          <p:cNvSpPr txBox="1"/>
          <p:nvPr/>
        </p:nvSpPr>
        <p:spPr>
          <a:xfrm>
            <a:off x="6537960" y="5074920"/>
            <a:ext cx="4754880" cy="548640"/>
          </a:xfrm>
          <a:prstGeom prst="rect">
            <a:avLst/>
          </a:prstGeom>
          <a:noFill/>
          <a:ln/>
        </p:spPr>
        <p:txBody>
          <a:bodyPr wrap="square" lIns="0" tIns="0" rIns="0" bIns="0" rtlCol="0" anchor="ctr"/>
          <a:lstStyle/>
          <a:p>
            <a:pPr indent="0" marL="0">
              <a:lnSpc>
                <a:spcPts val="1600"/>
              </a:lnSpc>
              <a:buNone/>
            </a:pPr>
            <a:r>
              <a:rPr lang="en-US" sz="1200" dirty="0">
                <a:solidFill>
                  <a:srgbClr val="16262E"/>
                </a:solidFill>
                <a:latin typeface="Calibri" pitchFamily="34" charset="0"/>
                <a:ea typeface="Calibri" pitchFamily="34" charset="-122"/>
                <a:cs typeface="Calibri" pitchFamily="34" charset="-120"/>
              </a:rPr>
              <a:t>The four corners are the extremes; the middle group is the largest at 81 customers (40%).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TURNING CLUSTERS INTO ACTION</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Business Recommendations</a:t>
            </a:r>
            <a:endParaRPr lang="en-US" sz="3200" dirty="0"/>
          </a:p>
        </p:txBody>
      </p:sp>
      <p:sp>
        <p:nvSpPr>
          <p:cNvPr id="4" name="Shape 2"/>
          <p:cNvSpPr/>
          <p:nvPr/>
        </p:nvSpPr>
        <p:spPr>
          <a:xfrm>
            <a:off x="548640" y="1627632"/>
            <a:ext cx="11064240" cy="786384"/>
          </a:xfrm>
          <a:prstGeom prst="roundRect">
            <a:avLst>
              <a:gd name="adj" fmla="val 9302"/>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Shape 3"/>
          <p:cNvSpPr/>
          <p:nvPr/>
        </p:nvSpPr>
        <p:spPr>
          <a:xfrm>
            <a:off x="841248" y="1874520"/>
            <a:ext cx="292608" cy="292608"/>
          </a:xfrm>
          <a:prstGeom prst="ellipse">
            <a:avLst/>
          </a:prstGeom>
          <a:solidFill>
            <a:srgbClr val="028090"/>
          </a:solidFill>
          <a:ln/>
        </p:spPr>
      </p:sp>
      <p:sp>
        <p:nvSpPr>
          <p:cNvPr id="6" name="Text 4"/>
          <p:cNvSpPr txBox="1"/>
          <p:nvPr/>
        </p:nvSpPr>
        <p:spPr>
          <a:xfrm>
            <a:off x="1298448" y="1719072"/>
            <a:ext cx="283464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VIP / Target Customers</a:t>
            </a:r>
            <a:endParaRPr lang="en-US" sz="1400" dirty="0"/>
          </a:p>
        </p:txBody>
      </p:sp>
      <p:sp>
        <p:nvSpPr>
          <p:cNvPr id="7" name="Text 5"/>
          <p:cNvSpPr txBox="1"/>
          <p:nvPr/>
        </p:nvSpPr>
        <p:spPr>
          <a:xfrm>
            <a:off x="1298448" y="2029968"/>
            <a:ext cx="2834640" cy="274320"/>
          </a:xfrm>
          <a:prstGeom prst="rect">
            <a:avLst/>
          </a:prstGeom>
          <a:noFill/>
          <a:ln/>
        </p:spPr>
        <p:txBody>
          <a:bodyPr wrap="square" lIns="0" tIns="0" rIns="0" bIns="0" rtlCol="0" anchor="ctr"/>
          <a:lstStyle/>
          <a:p>
            <a:pPr indent="0" marL="0">
              <a:buNone/>
            </a:pPr>
            <a:r>
              <a:rPr lang="en-US" sz="1150" dirty="0">
                <a:solidFill>
                  <a:srgbClr val="5C7A7D"/>
                </a:solidFill>
                <a:latin typeface="Calibri" pitchFamily="34" charset="0"/>
                <a:ea typeface="Calibri" pitchFamily="34" charset="-122"/>
                <a:cs typeface="Calibri" pitchFamily="34" charset="-120"/>
              </a:rPr>
              <a:t>39 customers · 20%</a:t>
            </a:r>
            <a:endParaRPr lang="en-US" sz="1150" dirty="0"/>
          </a:p>
        </p:txBody>
      </p:sp>
      <p:sp>
        <p:nvSpPr>
          <p:cNvPr id="8" name="Text 6"/>
          <p:cNvSpPr txBox="1"/>
          <p:nvPr/>
        </p:nvSpPr>
        <p:spPr>
          <a:xfrm>
            <a:off x="4297680" y="1792224"/>
            <a:ext cx="7040880" cy="502920"/>
          </a:xfrm>
          <a:prstGeom prst="rect">
            <a:avLst/>
          </a:prstGeom>
          <a:noFill/>
          <a:ln/>
        </p:spPr>
        <p:txBody>
          <a:bodyPr wrap="square" lIns="0" tIns="0" rIns="0" bIns="0" rtlCol="0" anchor="ctr"/>
          <a:lstStyle/>
          <a:p>
            <a:pPr indent="0" marL="0">
              <a:lnSpc>
                <a:spcPts val="1600"/>
              </a:lnSpc>
              <a:buNone/>
            </a:pPr>
            <a:r>
              <a:rPr lang="en-US" sz="1250" dirty="0">
                <a:solidFill>
                  <a:srgbClr val="16262E"/>
                </a:solidFill>
                <a:latin typeface="Calibri" pitchFamily="34" charset="0"/>
                <a:ea typeface="Calibri" pitchFamily="34" charset="-122"/>
                <a:cs typeface="Calibri" pitchFamily="34" charset="-120"/>
              </a:rPr>
              <a:t>Protect them. Premium loyalty tier, early access to new products, personal service. Highest return on retention spend.</a:t>
            </a:r>
            <a:endParaRPr lang="en-US" sz="1250" dirty="0"/>
          </a:p>
        </p:txBody>
      </p:sp>
      <p:sp>
        <p:nvSpPr>
          <p:cNvPr id="9" name="Shape 7"/>
          <p:cNvSpPr/>
          <p:nvPr/>
        </p:nvSpPr>
        <p:spPr>
          <a:xfrm>
            <a:off x="548640" y="2523744"/>
            <a:ext cx="11064240" cy="786384"/>
          </a:xfrm>
          <a:prstGeom prst="roundRect">
            <a:avLst>
              <a:gd name="adj" fmla="val 9302"/>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0" name="Shape 8"/>
          <p:cNvSpPr/>
          <p:nvPr/>
        </p:nvSpPr>
        <p:spPr>
          <a:xfrm>
            <a:off x="841248" y="2770632"/>
            <a:ext cx="292608" cy="292608"/>
          </a:xfrm>
          <a:prstGeom prst="ellipse">
            <a:avLst/>
          </a:prstGeom>
          <a:solidFill>
            <a:srgbClr val="00A896"/>
          </a:solidFill>
          <a:ln/>
        </p:spPr>
      </p:sp>
      <p:sp>
        <p:nvSpPr>
          <p:cNvPr id="11" name="Text 9"/>
          <p:cNvSpPr txBox="1"/>
          <p:nvPr/>
        </p:nvSpPr>
        <p:spPr>
          <a:xfrm>
            <a:off x="1298448" y="2615184"/>
            <a:ext cx="283464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Untapped High Earners</a:t>
            </a:r>
            <a:endParaRPr lang="en-US" sz="1400" dirty="0"/>
          </a:p>
        </p:txBody>
      </p:sp>
      <p:sp>
        <p:nvSpPr>
          <p:cNvPr id="12" name="Text 10"/>
          <p:cNvSpPr txBox="1"/>
          <p:nvPr/>
        </p:nvSpPr>
        <p:spPr>
          <a:xfrm>
            <a:off x="1298448" y="2926080"/>
            <a:ext cx="2834640" cy="274320"/>
          </a:xfrm>
          <a:prstGeom prst="rect">
            <a:avLst/>
          </a:prstGeom>
          <a:noFill/>
          <a:ln/>
        </p:spPr>
        <p:txBody>
          <a:bodyPr wrap="square" lIns="0" tIns="0" rIns="0" bIns="0" rtlCol="0" anchor="ctr"/>
          <a:lstStyle/>
          <a:p>
            <a:pPr indent="0" marL="0">
              <a:buNone/>
            </a:pPr>
            <a:r>
              <a:rPr lang="en-US" sz="1150" dirty="0">
                <a:solidFill>
                  <a:srgbClr val="5C7A7D"/>
                </a:solidFill>
                <a:latin typeface="Calibri" pitchFamily="34" charset="0"/>
                <a:ea typeface="Calibri" pitchFamily="34" charset="-122"/>
                <a:cs typeface="Calibri" pitchFamily="34" charset="-120"/>
              </a:rPr>
              <a:t>35 customers · 18%</a:t>
            </a:r>
            <a:endParaRPr lang="en-US" sz="1150" dirty="0"/>
          </a:p>
        </p:txBody>
      </p:sp>
      <p:sp>
        <p:nvSpPr>
          <p:cNvPr id="13" name="Text 11"/>
          <p:cNvSpPr txBox="1"/>
          <p:nvPr/>
        </p:nvSpPr>
        <p:spPr>
          <a:xfrm>
            <a:off x="4297680" y="2688336"/>
            <a:ext cx="7040880" cy="502920"/>
          </a:xfrm>
          <a:prstGeom prst="rect">
            <a:avLst/>
          </a:prstGeom>
          <a:noFill/>
          <a:ln/>
        </p:spPr>
        <p:txBody>
          <a:bodyPr wrap="square" lIns="0" tIns="0" rIns="0" bIns="0" rtlCol="0" anchor="ctr"/>
          <a:lstStyle/>
          <a:p>
            <a:pPr indent="0" marL="0">
              <a:lnSpc>
                <a:spcPts val="1600"/>
              </a:lnSpc>
              <a:buNone/>
            </a:pPr>
            <a:r>
              <a:rPr lang="en-US" sz="1250" dirty="0">
                <a:solidFill>
                  <a:srgbClr val="16262E"/>
                </a:solidFill>
                <a:latin typeface="Calibri" pitchFamily="34" charset="0"/>
                <a:ea typeface="Calibri" pitchFamily="34" charset="-122"/>
                <a:cs typeface="Calibri" pitchFamily="34" charset="-120"/>
              </a:rPr>
              <a:t>Biggest growth opportunity — they can afford to buy but don't. Survey them, and use quality and prestige messaging rather than discounts.</a:t>
            </a:r>
            <a:endParaRPr lang="en-US" sz="1250" dirty="0"/>
          </a:p>
        </p:txBody>
      </p:sp>
      <p:sp>
        <p:nvSpPr>
          <p:cNvPr id="14" name="Shape 12"/>
          <p:cNvSpPr/>
          <p:nvPr/>
        </p:nvSpPr>
        <p:spPr>
          <a:xfrm>
            <a:off x="548640" y="3419856"/>
            <a:ext cx="11064240" cy="786384"/>
          </a:xfrm>
          <a:prstGeom prst="roundRect">
            <a:avLst>
              <a:gd name="adj" fmla="val 9302"/>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5" name="Shape 13"/>
          <p:cNvSpPr/>
          <p:nvPr/>
        </p:nvSpPr>
        <p:spPr>
          <a:xfrm>
            <a:off x="841248" y="3666744"/>
            <a:ext cx="292608" cy="292608"/>
          </a:xfrm>
          <a:prstGeom prst="ellipse">
            <a:avLst/>
          </a:prstGeom>
          <a:solidFill>
            <a:srgbClr val="02C39A"/>
          </a:solidFill>
          <a:ln/>
        </p:spPr>
      </p:sp>
      <p:sp>
        <p:nvSpPr>
          <p:cNvPr id="16" name="Text 14"/>
          <p:cNvSpPr txBox="1"/>
          <p:nvPr/>
        </p:nvSpPr>
        <p:spPr>
          <a:xfrm>
            <a:off x="1298448" y="3511296"/>
            <a:ext cx="283464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Young Big Spenders</a:t>
            </a:r>
            <a:endParaRPr lang="en-US" sz="1400" dirty="0"/>
          </a:p>
        </p:txBody>
      </p:sp>
      <p:sp>
        <p:nvSpPr>
          <p:cNvPr id="17" name="Text 15"/>
          <p:cNvSpPr txBox="1"/>
          <p:nvPr/>
        </p:nvSpPr>
        <p:spPr>
          <a:xfrm>
            <a:off x="1298448" y="3822192"/>
            <a:ext cx="2834640" cy="274320"/>
          </a:xfrm>
          <a:prstGeom prst="rect">
            <a:avLst/>
          </a:prstGeom>
          <a:noFill/>
          <a:ln/>
        </p:spPr>
        <p:txBody>
          <a:bodyPr wrap="square" lIns="0" tIns="0" rIns="0" bIns="0" rtlCol="0" anchor="ctr"/>
          <a:lstStyle/>
          <a:p>
            <a:pPr indent="0" marL="0">
              <a:buNone/>
            </a:pPr>
            <a:r>
              <a:rPr lang="en-US" sz="1150" dirty="0">
                <a:solidFill>
                  <a:srgbClr val="5C7A7D"/>
                </a:solidFill>
                <a:latin typeface="Calibri" pitchFamily="34" charset="0"/>
                <a:ea typeface="Calibri" pitchFamily="34" charset="-122"/>
                <a:cs typeface="Calibri" pitchFamily="34" charset="-120"/>
              </a:rPr>
              <a:t>22 customers · 11%</a:t>
            </a:r>
            <a:endParaRPr lang="en-US" sz="1150" dirty="0"/>
          </a:p>
        </p:txBody>
      </p:sp>
      <p:sp>
        <p:nvSpPr>
          <p:cNvPr id="18" name="Text 16"/>
          <p:cNvSpPr txBox="1"/>
          <p:nvPr/>
        </p:nvSpPr>
        <p:spPr>
          <a:xfrm>
            <a:off x="4297680" y="3584448"/>
            <a:ext cx="7040880" cy="502920"/>
          </a:xfrm>
          <a:prstGeom prst="rect">
            <a:avLst/>
          </a:prstGeom>
          <a:noFill/>
          <a:ln/>
        </p:spPr>
        <p:txBody>
          <a:bodyPr wrap="square" lIns="0" tIns="0" rIns="0" bIns="0" rtlCol="0" anchor="ctr"/>
          <a:lstStyle/>
          <a:p>
            <a:pPr indent="0" marL="0">
              <a:lnSpc>
                <a:spcPts val="1600"/>
              </a:lnSpc>
              <a:buNone/>
            </a:pPr>
            <a:r>
              <a:rPr lang="en-US" sz="1250" dirty="0">
                <a:solidFill>
                  <a:srgbClr val="16262E"/>
                </a:solidFill>
                <a:latin typeface="Calibri" pitchFamily="34" charset="0"/>
                <a:ea typeface="Calibri" pitchFamily="34" charset="-122"/>
                <a:cs typeface="Calibri" pitchFamily="34" charset="-120"/>
              </a:rPr>
              <a:t>Spend heavily on a small income. Flash sales, payment plans, student deals and social media campaigns.</a:t>
            </a:r>
            <a:endParaRPr lang="en-US" sz="1250" dirty="0"/>
          </a:p>
        </p:txBody>
      </p:sp>
      <p:sp>
        <p:nvSpPr>
          <p:cNvPr id="19" name="Shape 17"/>
          <p:cNvSpPr/>
          <p:nvPr/>
        </p:nvSpPr>
        <p:spPr>
          <a:xfrm>
            <a:off x="548640" y="4315968"/>
            <a:ext cx="11064240" cy="786384"/>
          </a:xfrm>
          <a:prstGeom prst="roundRect">
            <a:avLst>
              <a:gd name="adj" fmla="val 9302"/>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0" name="Shape 18"/>
          <p:cNvSpPr/>
          <p:nvPr/>
        </p:nvSpPr>
        <p:spPr>
          <a:xfrm>
            <a:off x="841248" y="4562856"/>
            <a:ext cx="292608" cy="292608"/>
          </a:xfrm>
          <a:prstGeom prst="ellipse">
            <a:avLst/>
          </a:prstGeom>
          <a:solidFill>
            <a:srgbClr val="7FA8AA"/>
          </a:solidFill>
          <a:ln/>
        </p:spPr>
      </p:sp>
      <p:sp>
        <p:nvSpPr>
          <p:cNvPr id="21" name="Text 19"/>
          <p:cNvSpPr txBox="1"/>
          <p:nvPr/>
        </p:nvSpPr>
        <p:spPr>
          <a:xfrm>
            <a:off x="1298448" y="4407408"/>
            <a:ext cx="283464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Average Customers</a:t>
            </a:r>
            <a:endParaRPr lang="en-US" sz="1400" dirty="0"/>
          </a:p>
        </p:txBody>
      </p:sp>
      <p:sp>
        <p:nvSpPr>
          <p:cNvPr id="22" name="Text 20"/>
          <p:cNvSpPr txBox="1"/>
          <p:nvPr/>
        </p:nvSpPr>
        <p:spPr>
          <a:xfrm>
            <a:off x="1298448" y="4718304"/>
            <a:ext cx="2834640" cy="274320"/>
          </a:xfrm>
          <a:prstGeom prst="rect">
            <a:avLst/>
          </a:prstGeom>
          <a:noFill/>
          <a:ln/>
        </p:spPr>
        <p:txBody>
          <a:bodyPr wrap="square" lIns="0" tIns="0" rIns="0" bIns="0" rtlCol="0" anchor="ctr"/>
          <a:lstStyle/>
          <a:p>
            <a:pPr indent="0" marL="0">
              <a:buNone/>
            </a:pPr>
            <a:r>
              <a:rPr lang="en-US" sz="1150" dirty="0">
                <a:solidFill>
                  <a:srgbClr val="5C7A7D"/>
                </a:solidFill>
                <a:latin typeface="Calibri" pitchFamily="34" charset="0"/>
                <a:ea typeface="Calibri" pitchFamily="34" charset="-122"/>
                <a:cs typeface="Calibri" pitchFamily="34" charset="-120"/>
              </a:rPr>
              <a:t>81 customers · 40%</a:t>
            </a:r>
            <a:endParaRPr lang="en-US" sz="1150" dirty="0"/>
          </a:p>
        </p:txBody>
      </p:sp>
      <p:sp>
        <p:nvSpPr>
          <p:cNvPr id="23" name="Text 21"/>
          <p:cNvSpPr txBox="1"/>
          <p:nvPr/>
        </p:nvSpPr>
        <p:spPr>
          <a:xfrm>
            <a:off x="4297680" y="4480560"/>
            <a:ext cx="7040880" cy="502920"/>
          </a:xfrm>
          <a:prstGeom prst="rect">
            <a:avLst/>
          </a:prstGeom>
          <a:noFill/>
          <a:ln/>
        </p:spPr>
        <p:txBody>
          <a:bodyPr wrap="square" lIns="0" tIns="0" rIns="0" bIns="0" rtlCol="0" anchor="ctr"/>
          <a:lstStyle/>
          <a:p>
            <a:pPr indent="0" marL="0">
              <a:lnSpc>
                <a:spcPts val="1600"/>
              </a:lnSpc>
              <a:buNone/>
            </a:pPr>
            <a:r>
              <a:rPr lang="en-US" sz="1250" dirty="0">
                <a:solidFill>
                  <a:srgbClr val="16262E"/>
                </a:solidFill>
                <a:latin typeface="Calibri" pitchFamily="34" charset="0"/>
                <a:ea typeface="Calibri" pitchFamily="34" charset="-122"/>
                <a:cs typeface="Calibri" pitchFamily="34" charset="-120"/>
              </a:rPr>
              <a:t>The largest group. Loyalty points and seasonal promotions to keep them, plus upsell tests to move some into VIP.</a:t>
            </a:r>
            <a:endParaRPr lang="en-US" sz="1250" dirty="0"/>
          </a:p>
        </p:txBody>
      </p:sp>
      <p:sp>
        <p:nvSpPr>
          <p:cNvPr id="24" name="Shape 22"/>
          <p:cNvSpPr/>
          <p:nvPr/>
        </p:nvSpPr>
        <p:spPr>
          <a:xfrm>
            <a:off x="548640" y="5212080"/>
            <a:ext cx="11064240" cy="786384"/>
          </a:xfrm>
          <a:prstGeom prst="roundRect">
            <a:avLst>
              <a:gd name="adj" fmla="val 9302"/>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25" name="Shape 23"/>
          <p:cNvSpPr/>
          <p:nvPr/>
        </p:nvSpPr>
        <p:spPr>
          <a:xfrm>
            <a:off x="841248" y="5458968"/>
            <a:ext cx="292608" cy="292608"/>
          </a:xfrm>
          <a:prstGeom prst="ellipse">
            <a:avLst/>
          </a:prstGeom>
          <a:solidFill>
            <a:srgbClr val="A9C3C4"/>
          </a:solidFill>
          <a:ln/>
        </p:spPr>
      </p:sp>
      <p:sp>
        <p:nvSpPr>
          <p:cNvPr id="26" name="Text 24"/>
          <p:cNvSpPr txBox="1"/>
          <p:nvPr/>
        </p:nvSpPr>
        <p:spPr>
          <a:xfrm>
            <a:off x="1298448" y="5303520"/>
            <a:ext cx="2834640" cy="292608"/>
          </a:xfrm>
          <a:prstGeom prst="rect">
            <a:avLst/>
          </a:prstGeom>
          <a:noFill/>
          <a:ln/>
        </p:spPr>
        <p:txBody>
          <a:bodyPr wrap="square" lIns="0" tIns="0" rIns="0" bIns="0" rtlCol="0" anchor="ctr"/>
          <a:lstStyle/>
          <a:p>
            <a:pPr indent="0" marL="0">
              <a:buNone/>
            </a:pPr>
            <a:r>
              <a:rPr lang="en-US" sz="1400" b="1" dirty="0">
                <a:solidFill>
                  <a:srgbClr val="07393C"/>
                </a:solidFill>
                <a:latin typeface="Calibri" pitchFamily="34" charset="0"/>
                <a:ea typeface="Calibri" pitchFamily="34" charset="-122"/>
                <a:cs typeface="Calibri" pitchFamily="34" charset="-120"/>
              </a:rPr>
              <a:t>Budget Customers</a:t>
            </a:r>
            <a:endParaRPr lang="en-US" sz="1400" dirty="0"/>
          </a:p>
        </p:txBody>
      </p:sp>
      <p:sp>
        <p:nvSpPr>
          <p:cNvPr id="27" name="Text 25"/>
          <p:cNvSpPr txBox="1"/>
          <p:nvPr/>
        </p:nvSpPr>
        <p:spPr>
          <a:xfrm>
            <a:off x="1298448" y="5614416"/>
            <a:ext cx="2834640" cy="274320"/>
          </a:xfrm>
          <a:prstGeom prst="rect">
            <a:avLst/>
          </a:prstGeom>
          <a:noFill/>
          <a:ln/>
        </p:spPr>
        <p:txBody>
          <a:bodyPr wrap="square" lIns="0" tIns="0" rIns="0" bIns="0" rtlCol="0" anchor="ctr"/>
          <a:lstStyle/>
          <a:p>
            <a:pPr indent="0" marL="0">
              <a:buNone/>
            </a:pPr>
            <a:r>
              <a:rPr lang="en-US" sz="1150" dirty="0">
                <a:solidFill>
                  <a:srgbClr val="5C7A7D"/>
                </a:solidFill>
                <a:latin typeface="Calibri" pitchFamily="34" charset="0"/>
                <a:ea typeface="Calibri" pitchFamily="34" charset="-122"/>
                <a:cs typeface="Calibri" pitchFamily="34" charset="-120"/>
              </a:rPr>
              <a:t>23 customers · 12%</a:t>
            </a:r>
            <a:endParaRPr lang="en-US" sz="1150" dirty="0"/>
          </a:p>
        </p:txBody>
      </p:sp>
      <p:sp>
        <p:nvSpPr>
          <p:cNvPr id="28" name="Text 26"/>
          <p:cNvSpPr txBox="1"/>
          <p:nvPr/>
        </p:nvSpPr>
        <p:spPr>
          <a:xfrm>
            <a:off x="4297680" y="5376672"/>
            <a:ext cx="7040880" cy="502920"/>
          </a:xfrm>
          <a:prstGeom prst="rect">
            <a:avLst/>
          </a:prstGeom>
          <a:noFill/>
          <a:ln/>
        </p:spPr>
        <p:txBody>
          <a:bodyPr wrap="square" lIns="0" tIns="0" rIns="0" bIns="0" rtlCol="0" anchor="ctr"/>
          <a:lstStyle/>
          <a:p>
            <a:pPr indent="0" marL="0">
              <a:lnSpc>
                <a:spcPts val="1600"/>
              </a:lnSpc>
              <a:buNone/>
            </a:pPr>
            <a:r>
              <a:rPr lang="en-US" sz="1250" dirty="0">
                <a:solidFill>
                  <a:srgbClr val="16262E"/>
                </a:solidFill>
                <a:latin typeface="Calibri" pitchFamily="34" charset="0"/>
                <a:ea typeface="Calibri" pitchFamily="34" charset="-122"/>
                <a:cs typeface="Calibri" pitchFamily="34" charset="-120"/>
              </a:rPr>
              <a:t>Low income, low spending. Cheap outreach only — email coupons and clearance. Don't spend premium ad budget here.</a:t>
            </a:r>
            <a:endParaRPr lang="en-US" sz="1250" dirty="0"/>
          </a:p>
        </p:txBody>
      </p:sp>
      <p:sp>
        <p:nvSpPr>
          <p:cNvPr id="29" name="Text 27"/>
          <p:cNvSpPr txBox="1"/>
          <p:nvPr/>
        </p:nvSpPr>
        <p:spPr>
          <a:xfrm>
            <a:off x="548640" y="6144768"/>
            <a:ext cx="11064240" cy="411480"/>
          </a:xfrm>
          <a:prstGeom prst="rect">
            <a:avLst/>
          </a:prstGeom>
          <a:noFill/>
          <a:ln/>
        </p:spPr>
        <p:txBody>
          <a:bodyPr wrap="square" lIns="0" tIns="0" rIns="0" bIns="0" rtlCol="0" anchor="ctr"/>
          <a:lstStyle/>
          <a:p>
            <a:pPr indent="0" marL="0">
              <a:lnSpc>
                <a:spcPts val="1700"/>
              </a:lnSpc>
              <a:buNone/>
            </a:pPr>
            <a:r>
              <a:rPr lang="en-US" sz="1250" i="1" dirty="0">
                <a:solidFill>
                  <a:srgbClr val="028090"/>
                </a:solidFill>
                <a:latin typeface="Calibri" pitchFamily="34" charset="0"/>
                <a:ea typeface="Calibri" pitchFamily="34" charset="-122"/>
                <a:cs typeface="Calibri" pitchFamily="34" charset="-120"/>
              </a:rPr>
              <a:t>The single most valuable finding: 35 customers earn the most in the dataset but spend almost nothing. That is where the growth is.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200" b="1" spc="150" kern="0" dirty="0">
                <a:solidFill>
                  <a:srgbClr val="00A896"/>
                </a:solidFill>
                <a:latin typeface="Calibri" pitchFamily="34" charset="0"/>
                <a:ea typeface="Calibri" pitchFamily="34" charset="-122"/>
                <a:cs typeface="Calibri" pitchFamily="34" charset="-120"/>
              </a:rPr>
              <a:t>BEING HONEST ABOUT THE METHODS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07393C"/>
                </a:solidFill>
                <a:latin typeface="Cambria" pitchFamily="34" charset="0"/>
                <a:ea typeface="Cambria" pitchFamily="34" charset="-122"/>
                <a:cs typeface="Cambria" pitchFamily="34" charset="-120"/>
              </a:rPr>
              <a:t>Evaluation — Strengths &amp; Limitations</a:t>
            </a:r>
            <a:endParaRPr lang="en-US" sz="3200" dirty="0"/>
          </a:p>
        </p:txBody>
      </p:sp>
      <p:sp>
        <p:nvSpPr>
          <p:cNvPr id="4" name="Shape 2"/>
          <p:cNvSpPr/>
          <p:nvPr/>
        </p:nvSpPr>
        <p:spPr>
          <a:xfrm>
            <a:off x="548640" y="1645920"/>
            <a:ext cx="5486400" cy="4114800"/>
          </a:xfrm>
          <a:prstGeom prst="roundRect">
            <a:avLst>
              <a:gd name="adj" fmla="val 17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5" name="Text 3"/>
          <p:cNvSpPr txBox="1"/>
          <p:nvPr/>
        </p:nvSpPr>
        <p:spPr>
          <a:xfrm>
            <a:off x="914400" y="1874520"/>
            <a:ext cx="4754880" cy="365760"/>
          </a:xfrm>
          <a:prstGeom prst="rect">
            <a:avLst/>
          </a:prstGeom>
          <a:noFill/>
          <a:ln/>
        </p:spPr>
        <p:txBody>
          <a:bodyPr wrap="square" lIns="0" tIns="0" rIns="0" bIns="0" rtlCol="0" anchor="ctr"/>
          <a:lstStyle/>
          <a:p>
            <a:pPr indent="0" marL="0">
              <a:buNone/>
            </a:pPr>
            <a:r>
              <a:rPr lang="en-US" sz="2100" b="1" dirty="0">
                <a:solidFill>
                  <a:srgbClr val="028090"/>
                </a:solidFill>
                <a:latin typeface="Cambria" pitchFamily="34" charset="0"/>
                <a:ea typeface="Cambria" pitchFamily="34" charset="-122"/>
                <a:cs typeface="Cambria" pitchFamily="34" charset="-120"/>
              </a:rPr>
              <a:t>K-Means</a:t>
            </a:r>
            <a:endParaRPr lang="en-US" sz="2100" dirty="0"/>
          </a:p>
        </p:txBody>
      </p:sp>
      <p:sp>
        <p:nvSpPr>
          <p:cNvPr id="6" name="Text 4"/>
          <p:cNvSpPr txBox="1"/>
          <p:nvPr/>
        </p:nvSpPr>
        <p:spPr>
          <a:xfrm>
            <a:off x="914400" y="2331720"/>
            <a:ext cx="4754880" cy="256032"/>
          </a:xfrm>
          <a:prstGeom prst="rect">
            <a:avLst/>
          </a:prstGeom>
          <a:noFill/>
          <a:ln/>
        </p:spPr>
        <p:txBody>
          <a:bodyPr wrap="square" lIns="0" tIns="0" rIns="0" bIns="0" rtlCol="0" anchor="ctr"/>
          <a:lstStyle/>
          <a:p>
            <a:pPr indent="0" marL="0">
              <a:buNone/>
            </a:pPr>
            <a:r>
              <a:rPr lang="en-US" sz="1300" b="1" dirty="0">
                <a:solidFill>
                  <a:srgbClr val="07393C"/>
                </a:solidFill>
                <a:latin typeface="Calibri" pitchFamily="34" charset="0"/>
                <a:ea typeface="Calibri" pitchFamily="34" charset="-122"/>
                <a:cs typeface="Calibri" pitchFamily="34" charset="-120"/>
              </a:rPr>
              <a:t>Strengths</a:t>
            </a:r>
            <a:endParaRPr lang="en-US" sz="1300" dirty="0"/>
          </a:p>
        </p:txBody>
      </p:sp>
      <p:sp>
        <p:nvSpPr>
          <p:cNvPr id="7" name="Text 5"/>
          <p:cNvSpPr txBox="1"/>
          <p:nvPr/>
        </p:nvSpPr>
        <p:spPr>
          <a:xfrm>
            <a:off x="914400" y="2633472"/>
            <a:ext cx="4754880" cy="11887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Fast and simple to run.</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Gives centroids, so each segment has a clear description.</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Scored highest here (0.5547).</a:t>
            </a:r>
            <a:endParaRPr lang="en-US" sz="1250" dirty="0"/>
          </a:p>
        </p:txBody>
      </p:sp>
      <p:sp>
        <p:nvSpPr>
          <p:cNvPr id="8" name="Text 6"/>
          <p:cNvSpPr txBox="1"/>
          <p:nvPr/>
        </p:nvSpPr>
        <p:spPr>
          <a:xfrm>
            <a:off x="914400" y="3913632"/>
            <a:ext cx="4754880" cy="256032"/>
          </a:xfrm>
          <a:prstGeom prst="rect">
            <a:avLst/>
          </a:prstGeom>
          <a:noFill/>
          <a:ln/>
        </p:spPr>
        <p:txBody>
          <a:bodyPr wrap="square" lIns="0" tIns="0" rIns="0" bIns="0" rtlCol="0" anchor="ctr"/>
          <a:lstStyle/>
          <a:p>
            <a:pPr indent="0" marL="0">
              <a:buNone/>
            </a:pPr>
            <a:r>
              <a:rPr lang="en-US" sz="1300" b="1" dirty="0">
                <a:solidFill>
                  <a:srgbClr val="07393C"/>
                </a:solidFill>
                <a:latin typeface="Calibri" pitchFamily="34" charset="0"/>
                <a:ea typeface="Calibri" pitchFamily="34" charset="-122"/>
                <a:cs typeface="Calibri" pitchFamily="34" charset="-120"/>
              </a:rPr>
              <a:t>Limitations</a:t>
            </a:r>
            <a:endParaRPr lang="en-US" sz="1300" dirty="0"/>
          </a:p>
        </p:txBody>
      </p:sp>
      <p:sp>
        <p:nvSpPr>
          <p:cNvPr id="9" name="Text 7"/>
          <p:cNvSpPr txBox="1"/>
          <p:nvPr/>
        </p:nvSpPr>
        <p:spPr>
          <a:xfrm>
            <a:off x="914400" y="4206240"/>
            <a:ext cx="4754880" cy="146304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You must choose k yourself before running it.</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Outliers drag the centroids around.</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Only finds round clusters — it would fail on crescent shapes.</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Random start means results can vary without a fixed seed.</a:t>
            </a:r>
            <a:endParaRPr lang="en-US" sz="1250" dirty="0"/>
          </a:p>
        </p:txBody>
      </p:sp>
      <p:sp>
        <p:nvSpPr>
          <p:cNvPr id="10" name="Shape 8"/>
          <p:cNvSpPr/>
          <p:nvPr/>
        </p:nvSpPr>
        <p:spPr>
          <a:xfrm>
            <a:off x="6263640" y="1645920"/>
            <a:ext cx="5349240" cy="4114800"/>
          </a:xfrm>
          <a:prstGeom prst="roundRect">
            <a:avLst>
              <a:gd name="adj" fmla="val 1778"/>
            </a:avLst>
          </a:prstGeom>
          <a:solidFill>
            <a:srgbClr val="FFFFFF"/>
          </a:solidFill>
          <a:ln w="12700">
            <a:solidFill>
              <a:srgbClr val="E2EBEB"/>
            </a:solidFill>
            <a:prstDash val="solid"/>
          </a:ln>
          <a:effectLst>
            <a:outerShdw sx="100000" sy="100000" kx="0" ky="0" algn="bl" rotWithShape="0" blurRad="101600" dist="12700" dir="5400000">
              <a:srgbClr val="B8CCCC">
                <a:alpha val="35000"/>
              </a:srgbClr>
            </a:outerShdw>
          </a:effectLst>
        </p:spPr>
      </p:sp>
      <p:sp>
        <p:nvSpPr>
          <p:cNvPr id="11" name="Text 9"/>
          <p:cNvSpPr txBox="1"/>
          <p:nvPr/>
        </p:nvSpPr>
        <p:spPr>
          <a:xfrm>
            <a:off x="6629400" y="1874520"/>
            <a:ext cx="4617720" cy="365760"/>
          </a:xfrm>
          <a:prstGeom prst="rect">
            <a:avLst/>
          </a:prstGeom>
          <a:noFill/>
          <a:ln/>
        </p:spPr>
        <p:txBody>
          <a:bodyPr wrap="square" lIns="0" tIns="0" rIns="0" bIns="0" rtlCol="0" anchor="ctr"/>
          <a:lstStyle/>
          <a:p>
            <a:pPr indent="0" marL="0">
              <a:buNone/>
            </a:pPr>
            <a:r>
              <a:rPr lang="en-US" sz="2100" b="1" dirty="0">
                <a:solidFill>
                  <a:srgbClr val="00A896"/>
                </a:solidFill>
                <a:latin typeface="Cambria" pitchFamily="34" charset="0"/>
                <a:ea typeface="Cambria" pitchFamily="34" charset="-122"/>
                <a:cs typeface="Cambria" pitchFamily="34" charset="-120"/>
              </a:rPr>
              <a:t>Hierarchical</a:t>
            </a:r>
            <a:endParaRPr lang="en-US" sz="2100" dirty="0"/>
          </a:p>
        </p:txBody>
      </p:sp>
      <p:sp>
        <p:nvSpPr>
          <p:cNvPr id="12" name="Text 10"/>
          <p:cNvSpPr txBox="1"/>
          <p:nvPr/>
        </p:nvSpPr>
        <p:spPr>
          <a:xfrm>
            <a:off x="6629400" y="2331720"/>
            <a:ext cx="4617720" cy="256032"/>
          </a:xfrm>
          <a:prstGeom prst="rect">
            <a:avLst/>
          </a:prstGeom>
          <a:noFill/>
          <a:ln/>
        </p:spPr>
        <p:txBody>
          <a:bodyPr wrap="square" lIns="0" tIns="0" rIns="0" bIns="0" rtlCol="0" anchor="ctr"/>
          <a:lstStyle/>
          <a:p>
            <a:pPr indent="0" marL="0">
              <a:buNone/>
            </a:pPr>
            <a:r>
              <a:rPr lang="en-US" sz="1300" b="1" dirty="0">
                <a:solidFill>
                  <a:srgbClr val="07393C"/>
                </a:solidFill>
                <a:latin typeface="Calibri" pitchFamily="34" charset="0"/>
                <a:ea typeface="Calibri" pitchFamily="34" charset="-122"/>
                <a:cs typeface="Calibri" pitchFamily="34" charset="-120"/>
              </a:rPr>
              <a:t>Strengths</a:t>
            </a:r>
            <a:endParaRPr lang="en-US" sz="1300" dirty="0"/>
          </a:p>
        </p:txBody>
      </p:sp>
      <p:sp>
        <p:nvSpPr>
          <p:cNvPr id="13" name="Text 11"/>
          <p:cNvSpPr txBox="1"/>
          <p:nvPr/>
        </p:nvSpPr>
        <p:spPr>
          <a:xfrm>
            <a:off x="6629400" y="2633472"/>
            <a:ext cx="4617720" cy="11887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No need to pick k — the dendrogram shows all options.</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Completely deterministic: same answer every run.</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The dendrogram is itself a useful diagnostic.</a:t>
            </a:r>
            <a:endParaRPr lang="en-US" sz="1250" dirty="0"/>
          </a:p>
        </p:txBody>
      </p:sp>
      <p:sp>
        <p:nvSpPr>
          <p:cNvPr id="14" name="Text 12"/>
          <p:cNvSpPr txBox="1"/>
          <p:nvPr/>
        </p:nvSpPr>
        <p:spPr>
          <a:xfrm>
            <a:off x="6629400" y="3913632"/>
            <a:ext cx="4617720" cy="256032"/>
          </a:xfrm>
          <a:prstGeom prst="rect">
            <a:avLst/>
          </a:prstGeom>
          <a:noFill/>
          <a:ln/>
        </p:spPr>
        <p:txBody>
          <a:bodyPr wrap="square" lIns="0" tIns="0" rIns="0" bIns="0" rtlCol="0" anchor="ctr"/>
          <a:lstStyle/>
          <a:p>
            <a:pPr indent="0" marL="0">
              <a:buNone/>
            </a:pPr>
            <a:r>
              <a:rPr lang="en-US" sz="1300" b="1" dirty="0">
                <a:solidFill>
                  <a:srgbClr val="07393C"/>
                </a:solidFill>
                <a:latin typeface="Calibri" pitchFamily="34" charset="0"/>
                <a:ea typeface="Calibri" pitchFamily="34" charset="-122"/>
                <a:cs typeface="Calibri" pitchFamily="34" charset="-120"/>
              </a:rPr>
              <a:t>Limitations</a:t>
            </a:r>
            <a:endParaRPr lang="en-US" sz="1300" dirty="0"/>
          </a:p>
        </p:txBody>
      </p:sp>
      <p:sp>
        <p:nvSpPr>
          <p:cNvPr id="15" name="Text 13"/>
          <p:cNvSpPr txBox="1"/>
          <p:nvPr/>
        </p:nvSpPr>
        <p:spPr>
          <a:xfrm>
            <a:off x="6629400" y="4206240"/>
            <a:ext cx="4617720" cy="146304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Much slower — it does not scale to large customer bases.</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A merge can never be undone, even if it was a mistake.</a:t>
            </a:r>
            <a:endParaRPr lang="en-US" sz="1250" dirty="0"/>
          </a:p>
          <a:p>
            <a:pPr marL="342900" indent="-342900">
              <a:lnSpc>
                <a:spcPts val="20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Results shift depending on which linkage rule you pick.</a:t>
            </a:r>
            <a:endParaRPr lang="en-US" sz="1250" dirty="0"/>
          </a:p>
        </p:txBody>
      </p:sp>
      <p:sp>
        <p:nvSpPr>
          <p:cNvPr id="16" name="Text 14"/>
          <p:cNvSpPr txBox="1"/>
          <p:nvPr/>
        </p:nvSpPr>
        <p:spPr>
          <a:xfrm>
            <a:off x="548640" y="5943600"/>
            <a:ext cx="11064240" cy="457200"/>
          </a:xfrm>
          <a:prstGeom prst="rect">
            <a:avLst/>
          </a:prstGeom>
          <a:noFill/>
          <a:ln/>
        </p:spPr>
        <p:txBody>
          <a:bodyPr wrap="square" lIns="0" tIns="0" rIns="0" bIns="0" rtlCol="0" anchor="ctr"/>
          <a:lstStyle/>
          <a:p>
            <a:pPr indent="0" marL="0">
              <a:lnSpc>
                <a:spcPts val="1700"/>
              </a:lnSpc>
              <a:buNone/>
            </a:pPr>
            <a:r>
              <a:rPr lang="en-US" sz="1250" i="1" dirty="0">
                <a:solidFill>
                  <a:srgbClr val="5C7A7D"/>
                </a:solidFill>
                <a:latin typeface="Calibri" pitchFamily="34" charset="0"/>
                <a:ea typeface="Calibri" pitchFamily="34" charset="-122"/>
                <a:cs typeface="Calibri" pitchFamily="34" charset="-120"/>
              </a:rPr>
              <a:t>We report the K-Means result because its centroids make the segments easier to describe to a marketing team — not because it is the better algorithm in general.</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393C"/>
        </a:solidFill>
      </p:bgPr>
    </p:bg>
    <p:spTree>
      <p:nvGrpSpPr>
        <p:cNvPr id="1" name=""/>
        <p:cNvGrpSpPr/>
        <p:nvPr/>
      </p:nvGrpSpPr>
      <p:grpSpPr>
        <a:xfrm>
          <a:off x="0" y="0"/>
          <a:ext cx="0" cy="0"/>
          <a:chOff x="0" y="0"/>
          <a:chExt cx="0" cy="0"/>
        </a:xfrm>
      </p:grpSpPr>
      <p:sp>
        <p:nvSpPr>
          <p:cNvPr id="2" name="Text 0"/>
          <p:cNvSpPr txBox="1"/>
          <p:nvPr/>
        </p:nvSpPr>
        <p:spPr>
          <a:xfrm>
            <a:off x="685800" y="548640"/>
            <a:ext cx="7315200" cy="274320"/>
          </a:xfrm>
          <a:prstGeom prst="rect">
            <a:avLst/>
          </a:prstGeom>
          <a:noFill/>
          <a:ln/>
        </p:spPr>
        <p:txBody>
          <a:bodyPr wrap="square" lIns="0" tIns="0" rIns="0" bIns="0" rtlCol="0" anchor="ctr"/>
          <a:lstStyle/>
          <a:p>
            <a:pPr indent="0" marL="0">
              <a:buNone/>
            </a:pPr>
            <a:r>
              <a:rPr lang="en-US" sz="1300" b="1" spc="250" kern="0" dirty="0">
                <a:solidFill>
                  <a:srgbClr val="02C39A"/>
                </a:solidFill>
                <a:latin typeface="Calibri" pitchFamily="34" charset="0"/>
                <a:ea typeface="Calibri" pitchFamily="34" charset="-122"/>
                <a:cs typeface="Calibri" pitchFamily="34" charset="-120"/>
              </a:rPr>
              <a:t>WHAT I LEARNED</a:t>
            </a:r>
            <a:endParaRPr lang="en-US" sz="1300" dirty="0"/>
          </a:p>
        </p:txBody>
      </p:sp>
      <p:sp>
        <p:nvSpPr>
          <p:cNvPr id="3" name="Text 1"/>
          <p:cNvSpPr txBox="1"/>
          <p:nvPr/>
        </p:nvSpPr>
        <p:spPr>
          <a:xfrm>
            <a:off x="685800" y="896112"/>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Five Takeaways</a:t>
            </a:r>
            <a:endParaRPr lang="en-US" sz="3200" dirty="0"/>
          </a:p>
        </p:txBody>
      </p:sp>
      <p:sp>
        <p:nvSpPr>
          <p:cNvPr id="4" name="Shape 2"/>
          <p:cNvSpPr/>
          <p:nvPr/>
        </p:nvSpPr>
        <p:spPr>
          <a:xfrm>
            <a:off x="685800" y="1828800"/>
            <a:ext cx="384048" cy="384048"/>
          </a:xfrm>
          <a:prstGeom prst="ellipse">
            <a:avLst/>
          </a:prstGeom>
          <a:solidFill>
            <a:srgbClr val="02C39A"/>
          </a:solidFill>
          <a:ln/>
        </p:spPr>
      </p:sp>
      <p:sp>
        <p:nvSpPr>
          <p:cNvPr id="5" name="Text 3"/>
          <p:cNvSpPr txBox="1"/>
          <p:nvPr/>
        </p:nvSpPr>
        <p:spPr>
          <a:xfrm>
            <a:off x="685800" y="1828800"/>
            <a:ext cx="384048" cy="384048"/>
          </a:xfrm>
          <a:prstGeom prst="rect">
            <a:avLst/>
          </a:prstGeom>
          <a:noFill/>
          <a:ln/>
        </p:spPr>
        <p:txBody>
          <a:bodyPr wrap="square" lIns="0" tIns="0" rIns="0" bIns="0" rtlCol="0" anchor="ctr"/>
          <a:lstStyle/>
          <a:p>
            <a:pPr algn="ctr" indent="0" marL="0">
              <a:buNone/>
            </a:pPr>
            <a:r>
              <a:rPr lang="en-US" sz="1400" b="1" dirty="0">
                <a:solidFill>
                  <a:srgbClr val="07393C"/>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98448" y="1810512"/>
            <a:ext cx="3657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Scaling is not optional</a:t>
            </a:r>
            <a:endParaRPr lang="en-US" sz="1500" dirty="0"/>
          </a:p>
        </p:txBody>
      </p:sp>
      <p:sp>
        <p:nvSpPr>
          <p:cNvPr id="7" name="Text 5"/>
          <p:cNvSpPr txBox="1"/>
          <p:nvPr/>
        </p:nvSpPr>
        <p:spPr>
          <a:xfrm>
            <a:off x="5074920" y="1810512"/>
            <a:ext cx="6400800" cy="731520"/>
          </a:xfrm>
          <a:prstGeom prst="rect">
            <a:avLst/>
          </a:prstGeom>
          <a:noFill/>
          <a:ln/>
        </p:spPr>
        <p:txBody>
          <a:bodyPr wrap="square" lIns="0" tIns="0" rIns="0" bIns="0" rtlCol="0" anchor="t"/>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Clustering is built on distance, so a feature with bigger numbers wins by default. Standardizing changed which customers grouped together.</a:t>
            </a:r>
            <a:endParaRPr lang="en-US" sz="1250" dirty="0"/>
          </a:p>
        </p:txBody>
      </p:sp>
      <p:sp>
        <p:nvSpPr>
          <p:cNvPr id="8" name="Shape 6"/>
          <p:cNvSpPr/>
          <p:nvPr/>
        </p:nvSpPr>
        <p:spPr>
          <a:xfrm>
            <a:off x="685800" y="2798064"/>
            <a:ext cx="384048" cy="384048"/>
          </a:xfrm>
          <a:prstGeom prst="ellipse">
            <a:avLst/>
          </a:prstGeom>
          <a:solidFill>
            <a:srgbClr val="02C39A"/>
          </a:solidFill>
          <a:ln/>
        </p:spPr>
      </p:sp>
      <p:sp>
        <p:nvSpPr>
          <p:cNvPr id="9" name="Text 7"/>
          <p:cNvSpPr txBox="1"/>
          <p:nvPr/>
        </p:nvSpPr>
        <p:spPr>
          <a:xfrm>
            <a:off x="685800" y="2798064"/>
            <a:ext cx="384048" cy="384048"/>
          </a:xfrm>
          <a:prstGeom prst="rect">
            <a:avLst/>
          </a:prstGeom>
          <a:noFill/>
          <a:ln/>
        </p:spPr>
        <p:txBody>
          <a:bodyPr wrap="square" lIns="0" tIns="0" rIns="0" bIns="0" rtlCol="0" anchor="ctr"/>
          <a:lstStyle/>
          <a:p>
            <a:pPr algn="ctr" indent="0" marL="0">
              <a:buNone/>
            </a:pPr>
            <a:r>
              <a:rPr lang="en-US" sz="1400" b="1" dirty="0">
                <a:solidFill>
                  <a:srgbClr val="07393C"/>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298448" y="2779776"/>
            <a:ext cx="3657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More features can hurt</a:t>
            </a:r>
            <a:endParaRPr lang="en-US" sz="1500" dirty="0"/>
          </a:p>
        </p:txBody>
      </p:sp>
      <p:sp>
        <p:nvSpPr>
          <p:cNvPr id="11" name="Text 9"/>
          <p:cNvSpPr txBox="1"/>
          <p:nvPr/>
        </p:nvSpPr>
        <p:spPr>
          <a:xfrm>
            <a:off x="5074920" y="2779776"/>
            <a:ext cx="6400800" cy="731520"/>
          </a:xfrm>
          <a:prstGeom prst="rect">
            <a:avLst/>
          </a:prstGeom>
          <a:noFill/>
          <a:ln/>
        </p:spPr>
        <p:txBody>
          <a:bodyPr wrap="square" lIns="0" tIns="0" rIns="0" bIns="0" rtlCol="0" anchor="t"/>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Adding Age and Gender lowered the silhouette score. A feature with no pattern in it only adds noise to the distance calculation.</a:t>
            </a:r>
            <a:endParaRPr lang="en-US" sz="1250" dirty="0"/>
          </a:p>
        </p:txBody>
      </p:sp>
      <p:sp>
        <p:nvSpPr>
          <p:cNvPr id="12" name="Shape 10"/>
          <p:cNvSpPr/>
          <p:nvPr/>
        </p:nvSpPr>
        <p:spPr>
          <a:xfrm>
            <a:off x="685800" y="3767328"/>
            <a:ext cx="384048" cy="384048"/>
          </a:xfrm>
          <a:prstGeom prst="ellipse">
            <a:avLst/>
          </a:prstGeom>
          <a:solidFill>
            <a:srgbClr val="02C39A"/>
          </a:solidFill>
          <a:ln/>
        </p:spPr>
      </p:sp>
      <p:sp>
        <p:nvSpPr>
          <p:cNvPr id="13" name="Text 11"/>
          <p:cNvSpPr txBox="1"/>
          <p:nvPr/>
        </p:nvSpPr>
        <p:spPr>
          <a:xfrm>
            <a:off x="685800" y="3767328"/>
            <a:ext cx="384048" cy="384048"/>
          </a:xfrm>
          <a:prstGeom prst="rect">
            <a:avLst/>
          </a:prstGeom>
          <a:noFill/>
          <a:ln/>
        </p:spPr>
        <p:txBody>
          <a:bodyPr wrap="square" lIns="0" tIns="0" rIns="0" bIns="0" rtlCol="0" anchor="ctr"/>
          <a:lstStyle/>
          <a:p>
            <a:pPr algn="ctr" indent="0" marL="0">
              <a:buNone/>
            </a:pPr>
            <a:r>
              <a:rPr lang="en-US" sz="1400" b="1" dirty="0">
                <a:solidFill>
                  <a:srgbClr val="07393C"/>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98448" y="3749040"/>
            <a:ext cx="3657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One metric is never enough</a:t>
            </a:r>
            <a:endParaRPr lang="en-US" sz="1500" dirty="0"/>
          </a:p>
        </p:txBody>
      </p:sp>
      <p:sp>
        <p:nvSpPr>
          <p:cNvPr id="15" name="Text 13"/>
          <p:cNvSpPr txBox="1"/>
          <p:nvPr/>
        </p:nvSpPr>
        <p:spPr>
          <a:xfrm>
            <a:off x="5074920" y="3749040"/>
            <a:ext cx="6400800" cy="731520"/>
          </a:xfrm>
          <a:prstGeom prst="rect">
            <a:avLst/>
          </a:prstGeom>
          <a:noFill/>
          <a:ln/>
        </p:spPr>
        <p:txBody>
          <a:bodyPr wrap="square" lIns="0" tIns="0" rIns="0" bIns="0" rtlCol="0" anchor="t"/>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The elbow is a judgement call, so we backed it with silhouette and a dendrogram. Four signals agreeing on k = 5 is far stronger than one.</a:t>
            </a:r>
            <a:endParaRPr lang="en-US" sz="1250" dirty="0"/>
          </a:p>
        </p:txBody>
      </p:sp>
      <p:sp>
        <p:nvSpPr>
          <p:cNvPr id="16" name="Shape 14"/>
          <p:cNvSpPr/>
          <p:nvPr/>
        </p:nvSpPr>
        <p:spPr>
          <a:xfrm>
            <a:off x="685800" y="4736592"/>
            <a:ext cx="384048" cy="384048"/>
          </a:xfrm>
          <a:prstGeom prst="ellipse">
            <a:avLst/>
          </a:prstGeom>
          <a:solidFill>
            <a:srgbClr val="02C39A"/>
          </a:solidFill>
          <a:ln/>
        </p:spPr>
      </p:sp>
      <p:sp>
        <p:nvSpPr>
          <p:cNvPr id="17" name="Text 15"/>
          <p:cNvSpPr txBox="1"/>
          <p:nvPr/>
        </p:nvSpPr>
        <p:spPr>
          <a:xfrm>
            <a:off x="685800" y="4736592"/>
            <a:ext cx="384048" cy="384048"/>
          </a:xfrm>
          <a:prstGeom prst="rect">
            <a:avLst/>
          </a:prstGeom>
          <a:noFill/>
          <a:ln/>
        </p:spPr>
        <p:txBody>
          <a:bodyPr wrap="square" lIns="0" tIns="0" rIns="0" bIns="0" rtlCol="0" anchor="ctr"/>
          <a:lstStyle/>
          <a:p>
            <a:pPr algn="ctr" indent="0" marL="0">
              <a:buNone/>
            </a:pPr>
            <a:r>
              <a:rPr lang="en-US" sz="1400" b="1" dirty="0">
                <a:solidFill>
                  <a:srgbClr val="07393C"/>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298448" y="4718304"/>
            <a:ext cx="3657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Cross-check with a second method</a:t>
            </a:r>
            <a:endParaRPr lang="en-US" sz="1500" dirty="0"/>
          </a:p>
        </p:txBody>
      </p:sp>
      <p:sp>
        <p:nvSpPr>
          <p:cNvPr id="19" name="Text 17"/>
          <p:cNvSpPr txBox="1"/>
          <p:nvPr/>
        </p:nvSpPr>
        <p:spPr>
          <a:xfrm>
            <a:off x="5074920" y="4718304"/>
            <a:ext cx="6400800" cy="731520"/>
          </a:xfrm>
          <a:prstGeom prst="rect">
            <a:avLst/>
          </a:prstGeom>
          <a:noFill/>
          <a:ln/>
        </p:spPr>
        <p:txBody>
          <a:bodyPr wrap="square" lIns="0" tIns="0" rIns="0" bIns="0" rtlCol="0" anchor="t"/>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Two algorithms working on completely different principles found the same groups — that is what makes the result believable.</a:t>
            </a:r>
            <a:endParaRPr lang="en-US" sz="1250" dirty="0"/>
          </a:p>
        </p:txBody>
      </p:sp>
      <p:sp>
        <p:nvSpPr>
          <p:cNvPr id="20" name="Shape 18"/>
          <p:cNvSpPr/>
          <p:nvPr/>
        </p:nvSpPr>
        <p:spPr>
          <a:xfrm>
            <a:off x="685800" y="5705856"/>
            <a:ext cx="384048" cy="384048"/>
          </a:xfrm>
          <a:prstGeom prst="ellipse">
            <a:avLst/>
          </a:prstGeom>
          <a:solidFill>
            <a:srgbClr val="02C39A"/>
          </a:solidFill>
          <a:ln/>
        </p:spPr>
      </p:sp>
      <p:sp>
        <p:nvSpPr>
          <p:cNvPr id="21" name="Text 19"/>
          <p:cNvSpPr txBox="1"/>
          <p:nvPr/>
        </p:nvSpPr>
        <p:spPr>
          <a:xfrm>
            <a:off x="685800" y="5705856"/>
            <a:ext cx="384048" cy="384048"/>
          </a:xfrm>
          <a:prstGeom prst="rect">
            <a:avLst/>
          </a:prstGeom>
          <a:noFill/>
          <a:ln/>
        </p:spPr>
        <p:txBody>
          <a:bodyPr wrap="square" lIns="0" tIns="0" rIns="0" bIns="0" rtlCol="0" anchor="ctr"/>
          <a:lstStyle/>
          <a:p>
            <a:pPr algn="ctr" indent="0" marL="0">
              <a:buNone/>
            </a:pPr>
            <a:r>
              <a:rPr lang="en-US" sz="1400" b="1" dirty="0">
                <a:solidFill>
                  <a:srgbClr val="07393C"/>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298448" y="5687568"/>
            <a:ext cx="3657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Cluster numbers are meaningless</a:t>
            </a:r>
            <a:endParaRPr lang="en-US" sz="1500" dirty="0"/>
          </a:p>
        </p:txBody>
      </p:sp>
      <p:sp>
        <p:nvSpPr>
          <p:cNvPr id="23" name="Text 21"/>
          <p:cNvSpPr txBox="1"/>
          <p:nvPr/>
        </p:nvSpPr>
        <p:spPr>
          <a:xfrm>
            <a:off x="5074920" y="5687568"/>
            <a:ext cx="6400800" cy="731520"/>
          </a:xfrm>
          <a:prstGeom prst="rect">
            <a:avLst/>
          </a:prstGeom>
          <a:noFill/>
          <a:ln/>
        </p:spPr>
        <p:txBody>
          <a:bodyPr wrap="square" lIns="0" tIns="0" rIns="0" bIns="0" rtlCol="0" anchor="t"/>
          <a:lstStyle/>
          <a:p>
            <a:pPr indent="0" marL="0">
              <a:lnSpc>
                <a:spcPts val="1700"/>
              </a:lnSpc>
              <a:buNone/>
            </a:pPr>
            <a:r>
              <a:rPr lang="en-US" sz="1250" dirty="0">
                <a:solidFill>
                  <a:srgbClr val="BFD8D8"/>
                </a:solidFill>
                <a:latin typeface="Calibri" pitchFamily="34" charset="0"/>
                <a:ea typeface="Calibri" pitchFamily="34" charset="-122"/>
                <a:cs typeface="Calibri" pitchFamily="34" charset="-120"/>
              </a:rPr>
              <a:t>Cluster 0 in one algorithm is not cluster 0 in another. I compared cluster sizes instead, after a direct comparison gave a nonsense answer.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393C"/>
        </a:solidFill>
      </p:bgPr>
    </p:bg>
    <p:spTree>
      <p:nvGrpSpPr>
        <p:cNvPr id="1" name=""/>
        <p:cNvGrpSpPr/>
        <p:nvPr/>
      </p:nvGrpSpPr>
      <p:grpSpPr>
        <a:xfrm>
          <a:off x="0" y="0"/>
          <a:ext cx="0" cy="0"/>
          <a:chOff x="0" y="0"/>
          <a:chExt cx="0" cy="0"/>
        </a:xfrm>
      </p:grpSpPr>
      <p:sp>
        <p:nvSpPr>
          <p:cNvPr id="2" name="Shape 0"/>
          <p:cNvSpPr/>
          <p:nvPr/>
        </p:nvSpPr>
        <p:spPr>
          <a:xfrm>
            <a:off x="9235440" y="-2697480"/>
            <a:ext cx="5303520" cy="5303520"/>
          </a:xfrm>
          <a:prstGeom prst="ellipse">
            <a:avLst/>
          </a:prstGeom>
          <a:solidFill>
            <a:srgbClr val="028090"/>
          </a:solidFill>
          <a:ln/>
        </p:spPr>
      </p:sp>
      <p:sp>
        <p:nvSpPr>
          <p:cNvPr id="3" name="Text 1"/>
          <p:cNvSpPr txBox="1"/>
          <p:nvPr/>
        </p:nvSpPr>
        <p:spPr>
          <a:xfrm>
            <a:off x="822960" y="777240"/>
            <a:ext cx="7315200" cy="274320"/>
          </a:xfrm>
          <a:prstGeom prst="rect">
            <a:avLst/>
          </a:prstGeom>
          <a:noFill/>
          <a:ln/>
        </p:spPr>
        <p:txBody>
          <a:bodyPr wrap="square" lIns="0" tIns="0" rIns="0" bIns="0" rtlCol="0" anchor="ctr"/>
          <a:lstStyle/>
          <a:p>
            <a:pPr indent="0" marL="0">
              <a:buNone/>
            </a:pPr>
            <a:r>
              <a:rPr lang="en-US" sz="1300" b="1" spc="250" kern="0" dirty="0">
                <a:solidFill>
                  <a:srgbClr val="02C39A"/>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822960" y="1143000"/>
            <a:ext cx="8595360" cy="1280160"/>
          </a:xfrm>
          <a:prstGeom prst="rect">
            <a:avLst/>
          </a:prstGeom>
          <a:noFill/>
          <a:ln/>
        </p:spPr>
        <p:txBody>
          <a:bodyPr wrap="square" lIns="0" tIns="0" rIns="0" bIns="0" rtlCol="0" anchor="ctr"/>
          <a:lstStyle/>
          <a:p>
            <a:pPr indent="0" marL="0">
              <a:lnSpc>
                <a:spcPts val="4000"/>
              </a:lnSpc>
              <a:buNone/>
            </a:pPr>
            <a:r>
              <a:rPr lang="en-US" sz="3000" b="1" dirty="0">
                <a:solidFill>
                  <a:srgbClr val="FFFFFF"/>
                </a:solidFill>
                <a:latin typeface="Cambria" pitchFamily="34" charset="0"/>
                <a:ea typeface="Cambria" pitchFamily="34" charset="-122"/>
                <a:cs typeface="Cambria" pitchFamily="34" charset="-120"/>
              </a:rPr>
              <a:t>Five segments, found three ways,</a:t>
            </a:r>
            <a:endParaRPr lang="en-US" sz="3000" dirty="0"/>
          </a:p>
          <a:p>
            <a:pPr indent="0" marL="0">
              <a:lnSpc>
                <a:spcPts val="4000"/>
              </a:lnSpc>
              <a:buNone/>
            </a:pPr>
            <a:r>
              <a:rPr lang="en-US" sz="3000" b="1" dirty="0">
                <a:solidFill>
                  <a:srgbClr val="FFFFFF"/>
                </a:solidFill>
                <a:latin typeface="Cambria" pitchFamily="34" charset="0"/>
                <a:ea typeface="Cambria" pitchFamily="34" charset="-122"/>
                <a:cs typeface="Cambria" pitchFamily="34" charset="-120"/>
              </a:rPr>
              <a:t>confirmed by two algorithms</a:t>
            </a:r>
            <a:endParaRPr lang="en-US" sz="3000" dirty="0"/>
          </a:p>
        </p:txBody>
      </p:sp>
      <p:sp>
        <p:nvSpPr>
          <p:cNvPr id="5" name="Shape 3"/>
          <p:cNvSpPr/>
          <p:nvPr/>
        </p:nvSpPr>
        <p:spPr>
          <a:xfrm>
            <a:off x="822960" y="2834640"/>
            <a:ext cx="2514600" cy="1280160"/>
          </a:xfrm>
          <a:prstGeom prst="roundRect">
            <a:avLst>
              <a:gd name="adj" fmla="val 5714"/>
            </a:avLst>
          </a:prstGeom>
          <a:solidFill>
            <a:srgbClr val="0E4A4E"/>
          </a:solidFill>
          <a:ln w="12700">
            <a:solidFill>
              <a:srgbClr val="028090"/>
            </a:solidFill>
            <a:prstDash val="solid"/>
          </a:ln>
        </p:spPr>
      </p:sp>
      <p:sp>
        <p:nvSpPr>
          <p:cNvPr id="6" name="Text 4"/>
          <p:cNvSpPr txBox="1"/>
          <p:nvPr/>
        </p:nvSpPr>
        <p:spPr>
          <a:xfrm>
            <a:off x="822960" y="2999232"/>
            <a:ext cx="2514600" cy="594360"/>
          </a:xfrm>
          <a:prstGeom prst="rect">
            <a:avLst/>
          </a:prstGeom>
          <a:noFill/>
          <a:ln/>
        </p:spPr>
        <p:txBody>
          <a:bodyPr wrap="square" lIns="0" tIns="0" rIns="0" bIns="0"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5</a:t>
            </a:r>
            <a:endParaRPr lang="en-US" sz="3000" dirty="0"/>
          </a:p>
        </p:txBody>
      </p:sp>
      <p:sp>
        <p:nvSpPr>
          <p:cNvPr id="7" name="Text 5"/>
          <p:cNvSpPr txBox="1"/>
          <p:nvPr/>
        </p:nvSpPr>
        <p:spPr>
          <a:xfrm>
            <a:off x="822960" y="3611880"/>
            <a:ext cx="2514600" cy="320040"/>
          </a:xfrm>
          <a:prstGeom prst="rect">
            <a:avLst/>
          </a:prstGeom>
          <a:noFill/>
          <a:ln/>
        </p:spPr>
        <p:txBody>
          <a:bodyPr wrap="square" lIns="0" tIns="0" rIns="0" bIns="0" rtlCol="0" anchor="ctr"/>
          <a:lstStyle/>
          <a:p>
            <a:pPr algn="ctr" indent="0" marL="0">
              <a:buNone/>
            </a:pPr>
            <a:r>
              <a:rPr lang="en-US" sz="1150" dirty="0">
                <a:solidFill>
                  <a:srgbClr val="BFD8D8"/>
                </a:solidFill>
                <a:latin typeface="Calibri" pitchFamily="34" charset="0"/>
                <a:ea typeface="Calibri" pitchFamily="34" charset="-122"/>
                <a:cs typeface="Calibri" pitchFamily="34" charset="-120"/>
              </a:rPr>
              <a:t>customer segments</a:t>
            </a:r>
            <a:endParaRPr lang="en-US" sz="1150" dirty="0"/>
          </a:p>
        </p:txBody>
      </p:sp>
      <p:sp>
        <p:nvSpPr>
          <p:cNvPr id="8" name="Shape 6"/>
          <p:cNvSpPr/>
          <p:nvPr/>
        </p:nvSpPr>
        <p:spPr>
          <a:xfrm>
            <a:off x="3611880" y="2834640"/>
            <a:ext cx="2514600" cy="1280160"/>
          </a:xfrm>
          <a:prstGeom prst="roundRect">
            <a:avLst>
              <a:gd name="adj" fmla="val 5714"/>
            </a:avLst>
          </a:prstGeom>
          <a:solidFill>
            <a:srgbClr val="0E4A4E"/>
          </a:solidFill>
          <a:ln w="12700">
            <a:solidFill>
              <a:srgbClr val="028090"/>
            </a:solidFill>
            <a:prstDash val="solid"/>
          </a:ln>
        </p:spPr>
      </p:sp>
      <p:sp>
        <p:nvSpPr>
          <p:cNvPr id="9" name="Text 7"/>
          <p:cNvSpPr txBox="1"/>
          <p:nvPr/>
        </p:nvSpPr>
        <p:spPr>
          <a:xfrm>
            <a:off x="3611880" y="2999232"/>
            <a:ext cx="2514600" cy="594360"/>
          </a:xfrm>
          <a:prstGeom prst="rect">
            <a:avLst/>
          </a:prstGeom>
          <a:noFill/>
          <a:ln/>
        </p:spPr>
        <p:txBody>
          <a:bodyPr wrap="square" lIns="0" tIns="0" rIns="0" bIns="0"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0.5547</a:t>
            </a:r>
            <a:endParaRPr lang="en-US" sz="3000" dirty="0"/>
          </a:p>
        </p:txBody>
      </p:sp>
      <p:sp>
        <p:nvSpPr>
          <p:cNvPr id="10" name="Text 8"/>
          <p:cNvSpPr txBox="1"/>
          <p:nvPr/>
        </p:nvSpPr>
        <p:spPr>
          <a:xfrm>
            <a:off x="3611880" y="3611880"/>
            <a:ext cx="2514600" cy="320040"/>
          </a:xfrm>
          <a:prstGeom prst="rect">
            <a:avLst/>
          </a:prstGeom>
          <a:noFill/>
          <a:ln/>
        </p:spPr>
        <p:txBody>
          <a:bodyPr wrap="square" lIns="0" tIns="0" rIns="0" bIns="0" rtlCol="0" anchor="ctr"/>
          <a:lstStyle/>
          <a:p>
            <a:pPr algn="ctr" indent="0" marL="0">
              <a:buNone/>
            </a:pPr>
            <a:r>
              <a:rPr lang="en-US" sz="1150" dirty="0">
                <a:solidFill>
                  <a:srgbClr val="BFD8D8"/>
                </a:solidFill>
                <a:latin typeface="Calibri" pitchFamily="34" charset="0"/>
                <a:ea typeface="Calibri" pitchFamily="34" charset="-122"/>
                <a:cs typeface="Calibri" pitchFamily="34" charset="-120"/>
              </a:rPr>
              <a:t>silhouette score</a:t>
            </a:r>
            <a:endParaRPr lang="en-US" sz="1150" dirty="0"/>
          </a:p>
        </p:txBody>
      </p:sp>
      <p:sp>
        <p:nvSpPr>
          <p:cNvPr id="11" name="Shape 9"/>
          <p:cNvSpPr/>
          <p:nvPr/>
        </p:nvSpPr>
        <p:spPr>
          <a:xfrm>
            <a:off x="6400800" y="2834640"/>
            <a:ext cx="2514600" cy="1280160"/>
          </a:xfrm>
          <a:prstGeom prst="roundRect">
            <a:avLst>
              <a:gd name="adj" fmla="val 5714"/>
            </a:avLst>
          </a:prstGeom>
          <a:solidFill>
            <a:srgbClr val="0E4A4E"/>
          </a:solidFill>
          <a:ln w="12700">
            <a:solidFill>
              <a:srgbClr val="028090"/>
            </a:solidFill>
            <a:prstDash val="solid"/>
          </a:ln>
        </p:spPr>
      </p:sp>
      <p:sp>
        <p:nvSpPr>
          <p:cNvPr id="12" name="Text 10"/>
          <p:cNvSpPr txBox="1"/>
          <p:nvPr/>
        </p:nvSpPr>
        <p:spPr>
          <a:xfrm>
            <a:off x="6400800" y="2999232"/>
            <a:ext cx="2514600" cy="594360"/>
          </a:xfrm>
          <a:prstGeom prst="rect">
            <a:avLst/>
          </a:prstGeom>
          <a:noFill/>
          <a:ln/>
        </p:spPr>
        <p:txBody>
          <a:bodyPr wrap="square" lIns="0" tIns="0" rIns="0" bIns="0"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2</a:t>
            </a:r>
            <a:endParaRPr lang="en-US" sz="3000" dirty="0"/>
          </a:p>
        </p:txBody>
      </p:sp>
      <p:sp>
        <p:nvSpPr>
          <p:cNvPr id="13" name="Text 11"/>
          <p:cNvSpPr txBox="1"/>
          <p:nvPr/>
        </p:nvSpPr>
        <p:spPr>
          <a:xfrm>
            <a:off x="6400800" y="3611880"/>
            <a:ext cx="2514600" cy="320040"/>
          </a:xfrm>
          <a:prstGeom prst="rect">
            <a:avLst/>
          </a:prstGeom>
          <a:noFill/>
          <a:ln/>
        </p:spPr>
        <p:txBody>
          <a:bodyPr wrap="square" lIns="0" tIns="0" rIns="0" bIns="0" rtlCol="0" anchor="ctr"/>
          <a:lstStyle/>
          <a:p>
            <a:pPr algn="ctr" indent="0" marL="0">
              <a:buNone/>
            </a:pPr>
            <a:r>
              <a:rPr lang="en-US" sz="1150" dirty="0">
                <a:solidFill>
                  <a:srgbClr val="BFD8D8"/>
                </a:solidFill>
                <a:latin typeface="Calibri" pitchFamily="34" charset="0"/>
                <a:ea typeface="Calibri" pitchFamily="34" charset="-122"/>
                <a:cs typeface="Calibri" pitchFamily="34" charset="-120"/>
              </a:rPr>
              <a:t>algorithms agreed</a:t>
            </a:r>
            <a:endParaRPr lang="en-US" sz="1150" dirty="0"/>
          </a:p>
        </p:txBody>
      </p:sp>
      <p:sp>
        <p:nvSpPr>
          <p:cNvPr id="14" name="Shape 12"/>
          <p:cNvSpPr/>
          <p:nvPr/>
        </p:nvSpPr>
        <p:spPr>
          <a:xfrm>
            <a:off x="9189720" y="2834640"/>
            <a:ext cx="2514600" cy="1280160"/>
          </a:xfrm>
          <a:prstGeom prst="roundRect">
            <a:avLst>
              <a:gd name="adj" fmla="val 5714"/>
            </a:avLst>
          </a:prstGeom>
          <a:solidFill>
            <a:srgbClr val="0E4A4E"/>
          </a:solidFill>
          <a:ln w="12700">
            <a:solidFill>
              <a:srgbClr val="028090"/>
            </a:solidFill>
            <a:prstDash val="solid"/>
          </a:ln>
        </p:spPr>
      </p:sp>
      <p:sp>
        <p:nvSpPr>
          <p:cNvPr id="15" name="Text 13"/>
          <p:cNvSpPr txBox="1"/>
          <p:nvPr/>
        </p:nvSpPr>
        <p:spPr>
          <a:xfrm>
            <a:off x="9189720" y="2999232"/>
            <a:ext cx="2514600" cy="594360"/>
          </a:xfrm>
          <a:prstGeom prst="rect">
            <a:avLst/>
          </a:prstGeom>
          <a:noFill/>
          <a:ln/>
        </p:spPr>
        <p:txBody>
          <a:bodyPr wrap="square" lIns="0" tIns="0" rIns="0" bIns="0"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200</a:t>
            </a:r>
            <a:endParaRPr lang="en-US" sz="3000" dirty="0"/>
          </a:p>
        </p:txBody>
      </p:sp>
      <p:sp>
        <p:nvSpPr>
          <p:cNvPr id="16" name="Text 14"/>
          <p:cNvSpPr txBox="1"/>
          <p:nvPr/>
        </p:nvSpPr>
        <p:spPr>
          <a:xfrm>
            <a:off x="9189720" y="3611880"/>
            <a:ext cx="2514600" cy="320040"/>
          </a:xfrm>
          <a:prstGeom prst="rect">
            <a:avLst/>
          </a:prstGeom>
          <a:noFill/>
          <a:ln/>
        </p:spPr>
        <p:txBody>
          <a:bodyPr wrap="square" lIns="0" tIns="0" rIns="0" bIns="0" rtlCol="0" anchor="ctr"/>
          <a:lstStyle/>
          <a:p>
            <a:pPr algn="ctr" indent="0" marL="0">
              <a:buNone/>
            </a:pPr>
            <a:r>
              <a:rPr lang="en-US" sz="1150" dirty="0">
                <a:solidFill>
                  <a:srgbClr val="BFD8D8"/>
                </a:solidFill>
                <a:latin typeface="Calibri" pitchFamily="34" charset="0"/>
                <a:ea typeface="Calibri" pitchFamily="34" charset="-122"/>
                <a:cs typeface="Calibri" pitchFamily="34" charset="-120"/>
              </a:rPr>
              <a:t>customers labelled</a:t>
            </a:r>
            <a:endParaRPr lang="en-US" sz="1150" dirty="0"/>
          </a:p>
        </p:txBody>
      </p:sp>
      <p:sp>
        <p:nvSpPr>
          <p:cNvPr id="17" name="Text 15"/>
          <p:cNvSpPr txBox="1"/>
          <p:nvPr/>
        </p:nvSpPr>
        <p:spPr>
          <a:xfrm>
            <a:off x="822960" y="4526280"/>
            <a:ext cx="10515600" cy="822960"/>
          </a:xfrm>
          <a:prstGeom prst="rect">
            <a:avLst/>
          </a:prstGeom>
          <a:noFill/>
          <a:ln/>
        </p:spPr>
        <p:txBody>
          <a:bodyPr wrap="square" lIns="0" tIns="0" rIns="0" bIns="0" rtlCol="0" anchor="ctr"/>
          <a:lstStyle/>
          <a:p>
            <a:pPr indent="0" marL="0">
              <a:lnSpc>
                <a:spcPts val="2300"/>
              </a:lnSpc>
              <a:buNone/>
            </a:pPr>
            <a:r>
              <a:rPr lang="en-US" sz="1500" dirty="0">
                <a:solidFill>
                  <a:srgbClr val="FFFFFF"/>
                </a:solidFill>
                <a:latin typeface="Calibri" pitchFamily="34" charset="0"/>
                <a:ea typeface="Calibri" pitchFamily="34" charset="-122"/>
                <a:cs typeface="Calibri" pitchFamily="34" charset="-120"/>
              </a:rPr>
              <a:t>The mall can now stop marketing to an average customer who doesn't exist, and start marketing to five groups that do — beginning with the 35 high earners who spend almost nothing.</a:t>
            </a:r>
            <a:endParaRPr lang="en-US" sz="1500" dirty="0"/>
          </a:p>
        </p:txBody>
      </p:sp>
      <p:sp>
        <p:nvSpPr>
          <p:cNvPr id="18" name="Shape 16"/>
          <p:cNvSpPr/>
          <p:nvPr/>
        </p:nvSpPr>
        <p:spPr>
          <a:xfrm>
            <a:off x="822960" y="5577840"/>
            <a:ext cx="822960" cy="27432"/>
          </a:xfrm>
          <a:prstGeom prst="rect">
            <a:avLst/>
          </a:prstGeom>
          <a:solidFill>
            <a:srgbClr val="02C39A"/>
          </a:solidFill>
          <a:ln/>
        </p:spPr>
      </p:sp>
      <p:sp>
        <p:nvSpPr>
          <p:cNvPr id="19" name="Text 17"/>
          <p:cNvSpPr txBox="1"/>
          <p:nvPr/>
        </p:nvSpPr>
        <p:spPr>
          <a:xfrm>
            <a:off x="822960" y="5806440"/>
            <a:ext cx="10515600" cy="320040"/>
          </a:xfrm>
          <a:prstGeom prst="rect">
            <a:avLst/>
          </a:prstGeom>
          <a:noFill/>
          <a:ln/>
        </p:spPr>
        <p:txBody>
          <a:bodyPr wrap="square" lIns="0" tIns="0" rIns="0" bIns="0" rtlCol="0" anchor="ctr"/>
          <a:lstStyle/>
          <a:p>
            <a:pPr indent="0" marL="0">
              <a:buNone/>
            </a:pPr>
            <a:r>
              <a:rPr lang="en-US" sz="1200" dirty="0">
                <a:solidFill>
                  <a:srgbClr val="00A896"/>
                </a:solidFill>
                <a:latin typeface="Calibri" pitchFamily="34" charset="0"/>
                <a:ea typeface="Calibri" pitchFamily="34" charset="-122"/>
                <a:cs typeface="Calibri" pitchFamily="34" charset="-120"/>
              </a:rPr>
              <a:t>Deliverables:  customer_segmentation.py  ·  customers_with_clusters.csv  ·  6 figures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Using Clustering Techniques</dc:title>
  <dc:subject>PptxGenJS Presentation</dc:subject>
  <dc:creator>CSCI 6840 Project 1</dc:creator>
  <cp:lastModifiedBy>CSCI 6840 Project 1</cp:lastModifiedBy>
  <cp:revision>1</cp:revision>
  <dcterms:created xsi:type="dcterms:W3CDTF">2026-09-13T22:00:33Z</dcterms:created>
  <dcterms:modified xsi:type="dcterms:W3CDTF">2026-09-13T22:00:33Z</dcterms:modified>
</cp:coreProperties>
</file>